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172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XT_OFFLINE MODEL LEARNING"/>
          <p:cNvSpPr txBox="1"/>
          <p:nvPr/>
        </p:nvSpPr>
        <p:spPr>
          <a:xfrm>
            <a:off x="164592" y="73152"/>
            <a:ext cx="274320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</a:p>
        </p:txBody>
      </p:sp>
      <p:cxnSp>
        <p:nvCxnSpPr>
          <p:cNvPr id="3" name="FLOW_connector"/>
          <p:cNvCxnSpPr/>
          <p:nvPr/>
        </p:nvCxnSpPr>
        <p:spPr>
          <a:xfrm>
            <a:off x="3493008" y="402336"/>
            <a:ext cx="0" cy="2432304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FLOW_connector"/>
          <p:cNvCxnSpPr/>
          <p:nvPr/>
        </p:nvCxnSpPr>
        <p:spPr>
          <a:xfrm>
            <a:off x="9253728" y="402336"/>
            <a:ext cx="0" cy="2432304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LOW_connector"/>
          <p:cNvCxnSpPr/>
          <p:nvPr/>
        </p:nvCxnSpPr>
        <p:spPr>
          <a:xfrm>
            <a:off x="137160" y="2862072"/>
            <a:ext cx="11914632" cy="0"/>
          </a:xfrm>
          <a:prstGeom prst="line">
            <a:avLst/>
          </a:prstGeom>
          <a:ln w="1079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XT_(a) TacVAE Pretraining"/>
          <p:cNvSpPr txBox="1"/>
          <p:nvPr/>
        </p:nvSpPr>
        <p:spPr>
          <a:xfrm>
            <a:off x="164592" y="429768"/>
            <a:ext cx="31821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82880" y="108813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AME_chip_ep01_f0140_left_rdp"/>
          <p:cNvSpPr/>
          <p:nvPr/>
        </p:nvSpPr>
        <p:spPr>
          <a:xfrm>
            <a:off x="182880" y="1088136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233172" y="10469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AME_chip_ep01_f0163_left_rdp"/>
          <p:cNvSpPr/>
          <p:nvPr/>
        </p:nvSpPr>
        <p:spPr>
          <a:xfrm>
            <a:off x="233172" y="1046988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83464" y="1005839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AME_chip_ep01_f0187_left_rdp"/>
          <p:cNvSpPr/>
          <p:nvPr/>
        </p:nvSpPr>
        <p:spPr>
          <a:xfrm>
            <a:off x="283464" y="1005839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Marker history"/>
          <p:cNvSpPr txBox="1"/>
          <p:nvPr/>
        </p:nvSpPr>
        <p:spPr>
          <a:xfrm>
            <a:off x="137160" y="1673352"/>
            <a:ext cx="7498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14" name="FLOW_connector"/>
          <p:cNvCxnSpPr/>
          <p:nvPr/>
        </p:nvCxnSpPr>
        <p:spPr>
          <a:xfrm>
            <a:off x="786384" y="1344168"/>
            <a:ext cx="146304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BOX_Tactile_Encoder"/>
          <p:cNvSpPr/>
          <p:nvPr/>
        </p:nvSpPr>
        <p:spPr>
          <a:xfrm>
            <a:off x="932688" y="1097280"/>
            <a:ext cx="475488" cy="493776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16" name="FLOW_connector"/>
          <p:cNvCxnSpPr/>
          <p:nvPr/>
        </p:nvCxnSpPr>
        <p:spPr>
          <a:xfrm flipV="1">
            <a:off x="1330634" y="1028882"/>
            <a:ext cx="0" cy="36211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_connector"/>
          <p:cNvCxnSpPr/>
          <p:nvPr/>
        </p:nvCxnSpPr>
        <p:spPr>
          <a:xfrm>
            <a:off x="1330634" y="1028882"/>
            <a:ext cx="39502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_connector"/>
          <p:cNvCxnSpPr/>
          <p:nvPr/>
        </p:nvCxnSpPr>
        <p:spPr>
          <a:xfrm>
            <a:off x="1370136" y="1028882"/>
            <a:ext cx="0" cy="36211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X_module"/>
          <p:cNvSpPr/>
          <p:nvPr/>
        </p:nvSpPr>
        <p:spPr>
          <a:xfrm>
            <a:off x="1307592" y="1058509"/>
            <a:ext cx="85587" cy="72420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FLOW_connector"/>
          <p:cNvCxnSpPr/>
          <p:nvPr/>
        </p:nvCxnSpPr>
        <p:spPr>
          <a:xfrm>
            <a:off x="1408176" y="1344168"/>
            <a:ext cx="109728" cy="0"/>
          </a:xfrm>
          <a:prstGeom prst="line">
            <a:avLst/>
          </a:prstGeom>
          <a:ln w="1397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X_mu"/>
          <p:cNvSpPr/>
          <p:nvPr/>
        </p:nvSpPr>
        <p:spPr>
          <a:xfrm>
            <a:off x="1517904" y="1051560"/>
            <a:ext cx="356616" cy="228600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22" name="BOX_log var"/>
          <p:cNvSpPr/>
          <p:nvPr/>
        </p:nvSpPr>
        <p:spPr>
          <a:xfrm>
            <a:off x="1517904" y="1389888"/>
            <a:ext cx="356616" cy="228600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23" name="FLOW_connector"/>
          <p:cNvCxnSpPr/>
          <p:nvPr/>
        </p:nvCxnSpPr>
        <p:spPr>
          <a:xfrm>
            <a:off x="1874519" y="1161288"/>
            <a:ext cx="100585" cy="155448"/>
          </a:xfrm>
          <a:prstGeom prst="line">
            <a:avLst/>
          </a:prstGeom>
          <a:ln w="1143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_connector"/>
          <p:cNvCxnSpPr/>
          <p:nvPr/>
        </p:nvCxnSpPr>
        <p:spPr>
          <a:xfrm flipV="1">
            <a:off x="1874519" y="1353312"/>
            <a:ext cx="100585" cy="146304"/>
          </a:xfrm>
          <a:prstGeom prst="line">
            <a:avLst/>
          </a:prstGeom>
          <a:ln w="1143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_~"/>
          <p:cNvSpPr/>
          <p:nvPr/>
        </p:nvSpPr>
        <p:spPr>
          <a:xfrm>
            <a:off x="1956816" y="1243584"/>
            <a:ext cx="164592" cy="1645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26" name="FLOW_connector"/>
          <p:cNvCxnSpPr/>
          <p:nvPr/>
        </p:nvCxnSpPr>
        <p:spPr>
          <a:xfrm>
            <a:off x="2121408" y="1335024"/>
            <a:ext cx="100584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X_module"/>
          <p:cNvSpPr/>
          <p:nvPr/>
        </p:nvSpPr>
        <p:spPr>
          <a:xfrm>
            <a:off x="2221992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X_module"/>
          <p:cNvSpPr/>
          <p:nvPr/>
        </p:nvSpPr>
        <p:spPr>
          <a:xfrm>
            <a:off x="2296972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X_module"/>
          <p:cNvSpPr/>
          <p:nvPr/>
        </p:nvSpPr>
        <p:spPr>
          <a:xfrm>
            <a:off x="2371953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X_module"/>
          <p:cNvSpPr/>
          <p:nvPr/>
        </p:nvSpPr>
        <p:spPr>
          <a:xfrm>
            <a:off x="2221992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X_module"/>
          <p:cNvSpPr/>
          <p:nvPr/>
        </p:nvSpPr>
        <p:spPr>
          <a:xfrm>
            <a:off x="2296972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X_module"/>
          <p:cNvSpPr/>
          <p:nvPr/>
        </p:nvSpPr>
        <p:spPr>
          <a:xfrm>
            <a:off x="2371953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X_module"/>
          <p:cNvSpPr/>
          <p:nvPr/>
        </p:nvSpPr>
        <p:spPr>
          <a:xfrm>
            <a:off x="2221992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X_module"/>
          <p:cNvSpPr/>
          <p:nvPr/>
        </p:nvSpPr>
        <p:spPr>
          <a:xfrm>
            <a:off x="2296972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X_module"/>
          <p:cNvSpPr/>
          <p:nvPr/>
        </p:nvSpPr>
        <p:spPr>
          <a:xfrm>
            <a:off x="2371953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XT_Spatial latent"/>
          <p:cNvSpPr txBox="1"/>
          <p:nvPr/>
        </p:nvSpPr>
        <p:spPr>
          <a:xfrm>
            <a:off x="2139696" y="1481328"/>
            <a:ext cx="438912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37" name="FLOW_connector"/>
          <p:cNvCxnSpPr/>
          <p:nvPr/>
        </p:nvCxnSpPr>
        <p:spPr>
          <a:xfrm>
            <a:off x="2450592" y="1335024"/>
            <a:ext cx="91440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BOX_Marker_Decoder"/>
          <p:cNvSpPr/>
          <p:nvPr/>
        </p:nvSpPr>
        <p:spPr>
          <a:xfrm>
            <a:off x="2542032" y="1097280"/>
            <a:ext cx="438912" cy="493776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39" name="FLOW_connector"/>
          <p:cNvCxnSpPr/>
          <p:nvPr/>
        </p:nvCxnSpPr>
        <p:spPr>
          <a:xfrm>
            <a:off x="2980944" y="1344168"/>
            <a:ext cx="91440" cy="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Rectangle 333"/>
          <p:cNvSpPr/>
          <p:nvPr/>
        </p:nvSpPr>
        <p:spPr>
          <a:xfrm>
            <a:off x="3072384" y="1097280"/>
            <a:ext cx="34747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AME_tacvae_real_reconstructi"/>
          <p:cNvSpPr/>
          <p:nvPr/>
        </p:nvSpPr>
        <p:spPr>
          <a:xfrm>
            <a:off x="3072384" y="1097280"/>
            <a:ext cx="347472" cy="493776"/>
          </a:xfrm>
          <a:prstGeom prst="rect">
            <a:avLst/>
          </a:prstGeom>
          <a:noFill/>
          <a:ln w="635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XT_Recon."/>
          <p:cNvSpPr txBox="1"/>
          <p:nvPr/>
        </p:nvSpPr>
        <p:spPr>
          <a:xfrm>
            <a:off x="3017520" y="1627632"/>
            <a:ext cx="4389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43" name="FLOW_connector"/>
          <p:cNvCxnSpPr/>
          <p:nvPr/>
        </p:nvCxnSpPr>
        <p:spPr>
          <a:xfrm flipV="1">
            <a:off x="1700784" y="832104"/>
            <a:ext cx="0" cy="219456"/>
          </a:xfrm>
          <a:prstGeom prst="line">
            <a:avLst/>
          </a:prstGeom>
          <a:ln w="12700">
            <a:solidFill>
              <a:srgbClr val="2D9F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FLOW_connector"/>
          <p:cNvCxnSpPr/>
          <p:nvPr/>
        </p:nvCxnSpPr>
        <p:spPr>
          <a:xfrm>
            <a:off x="1700784" y="832104"/>
            <a:ext cx="292608" cy="0"/>
          </a:xfrm>
          <a:prstGeom prst="line">
            <a:avLst/>
          </a:prstGeom>
          <a:ln w="12700">
            <a:solidFill>
              <a:srgbClr val="2D9FA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BOX_module"/>
          <p:cNvSpPr/>
          <p:nvPr/>
        </p:nvSpPr>
        <p:spPr>
          <a:xfrm>
            <a:off x="2002536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OX_module"/>
          <p:cNvSpPr/>
          <p:nvPr/>
        </p:nvSpPr>
        <p:spPr>
          <a:xfrm>
            <a:off x="2050084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OX_module"/>
          <p:cNvSpPr/>
          <p:nvPr/>
        </p:nvSpPr>
        <p:spPr>
          <a:xfrm>
            <a:off x="2097633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OX_module"/>
          <p:cNvSpPr/>
          <p:nvPr/>
        </p:nvSpPr>
        <p:spPr>
          <a:xfrm>
            <a:off x="2002536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OX_module"/>
          <p:cNvSpPr/>
          <p:nvPr/>
        </p:nvSpPr>
        <p:spPr>
          <a:xfrm>
            <a:off x="2050084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OX_module"/>
          <p:cNvSpPr/>
          <p:nvPr/>
        </p:nvSpPr>
        <p:spPr>
          <a:xfrm>
            <a:off x="2097633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OX_module"/>
          <p:cNvSpPr/>
          <p:nvPr/>
        </p:nvSpPr>
        <p:spPr>
          <a:xfrm>
            <a:off x="2002536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OX_module"/>
          <p:cNvSpPr/>
          <p:nvPr/>
        </p:nvSpPr>
        <p:spPr>
          <a:xfrm>
            <a:off x="2050084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OX_module"/>
          <p:cNvSpPr/>
          <p:nvPr/>
        </p:nvSpPr>
        <p:spPr>
          <a:xfrm>
            <a:off x="2097633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XT_Deployment z_t"/>
          <p:cNvSpPr txBox="1"/>
          <p:nvPr/>
        </p:nvSpPr>
        <p:spPr>
          <a:xfrm>
            <a:off x="2176272" y="768096"/>
            <a:ext cx="7315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55" name="TXT_(b) Action-Conditioned T"/>
          <p:cNvSpPr txBox="1"/>
          <p:nvPr/>
        </p:nvSpPr>
        <p:spPr>
          <a:xfrm>
            <a:off x="3575304" y="429768"/>
            <a:ext cx="562356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3657600" y="804672"/>
            <a:ext cx="566928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AME_chip_ep01_f0160_global"/>
          <p:cNvSpPr/>
          <p:nvPr/>
        </p:nvSpPr>
        <p:spPr>
          <a:xfrm>
            <a:off x="3657600" y="804672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3657600" y="1234440"/>
            <a:ext cx="566928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AME_chip_ep01_f0160_wrist"/>
          <p:cNvSpPr/>
          <p:nvPr/>
        </p:nvSpPr>
        <p:spPr>
          <a:xfrm>
            <a:off x="3657600" y="1234440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XT_Global"/>
          <p:cNvSpPr txBox="1"/>
          <p:nvPr/>
        </p:nvSpPr>
        <p:spPr>
          <a:xfrm>
            <a:off x="3675887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61" name="TXT_Wrist"/>
          <p:cNvSpPr txBox="1"/>
          <p:nvPr/>
        </p:nvSpPr>
        <p:spPr>
          <a:xfrm>
            <a:off x="3959352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62" name="BOX_Visual_Encoder"/>
          <p:cNvSpPr/>
          <p:nvPr/>
        </p:nvSpPr>
        <p:spPr>
          <a:xfrm>
            <a:off x="4315968" y="932688"/>
            <a:ext cx="548640" cy="50292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63" name="FLOW_connector"/>
          <p:cNvCxnSpPr/>
          <p:nvPr/>
        </p:nvCxnSpPr>
        <p:spPr>
          <a:xfrm flipV="1">
            <a:off x="4778883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FLOW_connector"/>
          <p:cNvCxnSpPr/>
          <p:nvPr/>
        </p:nvCxnSpPr>
        <p:spPr>
          <a:xfrm>
            <a:off x="4778883" y="865251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FLOW_connector"/>
          <p:cNvCxnSpPr/>
          <p:nvPr/>
        </p:nvCxnSpPr>
        <p:spPr>
          <a:xfrm>
            <a:off x="4820031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BOX_module"/>
          <p:cNvSpPr/>
          <p:nvPr/>
        </p:nvSpPr>
        <p:spPr>
          <a:xfrm>
            <a:off x="4754880" y="896112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FLOW_connector"/>
          <p:cNvCxnSpPr/>
          <p:nvPr/>
        </p:nvCxnSpPr>
        <p:spPr>
          <a:xfrm flipV="1">
            <a:off x="4224528" y="1188720"/>
            <a:ext cx="91440" cy="27432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BOX_module"/>
          <p:cNvSpPr/>
          <p:nvPr/>
        </p:nvSpPr>
        <p:spPr>
          <a:xfrm>
            <a:off x="4937760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OX_module"/>
          <p:cNvSpPr/>
          <p:nvPr/>
        </p:nvSpPr>
        <p:spPr>
          <a:xfrm>
            <a:off x="5061204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BOX_module"/>
          <p:cNvSpPr/>
          <p:nvPr/>
        </p:nvSpPr>
        <p:spPr>
          <a:xfrm>
            <a:off x="5184648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3675887" y="1764792"/>
            <a:ext cx="5669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AME_chip_ep01_f0163_left_rdp"/>
          <p:cNvSpPr/>
          <p:nvPr/>
        </p:nvSpPr>
        <p:spPr>
          <a:xfrm>
            <a:off x="3675887" y="1764792"/>
            <a:ext cx="566928" cy="566928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XT_Touch"/>
          <p:cNvSpPr txBox="1"/>
          <p:nvPr/>
        </p:nvSpPr>
        <p:spPr>
          <a:xfrm>
            <a:off x="3730752" y="2340864"/>
            <a:ext cx="45720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74" name="BOX_TacVAE"/>
          <p:cNvSpPr/>
          <p:nvPr/>
        </p:nvSpPr>
        <p:spPr>
          <a:xfrm>
            <a:off x="4315968" y="1810512"/>
            <a:ext cx="548640" cy="438912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75" name="FLOW_connector"/>
          <p:cNvCxnSpPr/>
          <p:nvPr/>
        </p:nvCxnSpPr>
        <p:spPr>
          <a:xfrm flipV="1">
            <a:off x="4778883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FLOW_connector"/>
          <p:cNvCxnSpPr/>
          <p:nvPr/>
        </p:nvCxnSpPr>
        <p:spPr>
          <a:xfrm>
            <a:off x="4778883" y="1743075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FLOW_connector"/>
          <p:cNvCxnSpPr/>
          <p:nvPr/>
        </p:nvCxnSpPr>
        <p:spPr>
          <a:xfrm>
            <a:off x="4820031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BOX_module"/>
          <p:cNvSpPr/>
          <p:nvPr/>
        </p:nvSpPr>
        <p:spPr>
          <a:xfrm>
            <a:off x="4754880" y="1773936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FLOW_connector"/>
          <p:cNvCxnSpPr/>
          <p:nvPr/>
        </p:nvCxnSpPr>
        <p:spPr>
          <a:xfrm>
            <a:off x="4242816" y="2029968"/>
            <a:ext cx="73152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BOX_module"/>
          <p:cNvSpPr/>
          <p:nvPr/>
        </p:nvSpPr>
        <p:spPr>
          <a:xfrm>
            <a:off x="495604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OX_module"/>
          <p:cNvSpPr/>
          <p:nvPr/>
        </p:nvSpPr>
        <p:spPr>
          <a:xfrm>
            <a:off x="502462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BOX_module"/>
          <p:cNvSpPr/>
          <p:nvPr/>
        </p:nvSpPr>
        <p:spPr>
          <a:xfrm>
            <a:off x="509320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OX_module"/>
          <p:cNvSpPr/>
          <p:nvPr/>
        </p:nvSpPr>
        <p:spPr>
          <a:xfrm>
            <a:off x="495604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OX_module"/>
          <p:cNvSpPr/>
          <p:nvPr/>
        </p:nvSpPr>
        <p:spPr>
          <a:xfrm>
            <a:off x="502462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OX_module"/>
          <p:cNvSpPr/>
          <p:nvPr/>
        </p:nvSpPr>
        <p:spPr>
          <a:xfrm>
            <a:off x="509320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BOX_module"/>
          <p:cNvSpPr/>
          <p:nvPr/>
        </p:nvSpPr>
        <p:spPr>
          <a:xfrm>
            <a:off x="495604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OX_module"/>
          <p:cNvSpPr/>
          <p:nvPr/>
        </p:nvSpPr>
        <p:spPr>
          <a:xfrm>
            <a:off x="502462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OX_module"/>
          <p:cNvSpPr/>
          <p:nvPr/>
        </p:nvSpPr>
        <p:spPr>
          <a:xfrm>
            <a:off x="509320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OX_module"/>
          <p:cNvSpPr/>
          <p:nvPr/>
        </p:nvSpPr>
        <p:spPr>
          <a:xfrm>
            <a:off x="3730752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BOX_module"/>
          <p:cNvSpPr/>
          <p:nvPr/>
        </p:nvSpPr>
        <p:spPr>
          <a:xfrm>
            <a:off x="3835908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BOX_module"/>
          <p:cNvSpPr/>
          <p:nvPr/>
        </p:nvSpPr>
        <p:spPr>
          <a:xfrm>
            <a:off x="3941064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OX_module"/>
          <p:cNvSpPr/>
          <p:nvPr/>
        </p:nvSpPr>
        <p:spPr>
          <a:xfrm>
            <a:off x="4046220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XT_Robot state"/>
          <p:cNvSpPr txBox="1"/>
          <p:nvPr/>
        </p:nvSpPr>
        <p:spPr>
          <a:xfrm>
            <a:off x="3657600" y="2697480"/>
            <a:ext cx="53035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94" name="BOX_Projection"/>
          <p:cNvSpPr/>
          <p:nvPr/>
        </p:nvSpPr>
        <p:spPr>
          <a:xfrm>
            <a:off x="4315968" y="2532888"/>
            <a:ext cx="548640" cy="310896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95" name="FLOW_connector"/>
          <p:cNvCxnSpPr/>
          <p:nvPr/>
        </p:nvCxnSpPr>
        <p:spPr>
          <a:xfrm>
            <a:off x="4160520" y="2633472"/>
            <a:ext cx="155448" cy="54864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BOX_module"/>
          <p:cNvSpPr/>
          <p:nvPr/>
        </p:nvSpPr>
        <p:spPr>
          <a:xfrm>
            <a:off x="5001768" y="2624328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FLOW_connector"/>
          <p:cNvCxnSpPr/>
          <p:nvPr/>
        </p:nvCxnSpPr>
        <p:spPr>
          <a:xfrm>
            <a:off x="5303520" y="1179576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FLOW_connector"/>
          <p:cNvCxnSpPr/>
          <p:nvPr/>
        </p:nvCxnSpPr>
        <p:spPr>
          <a:xfrm>
            <a:off x="5413248" y="1179576"/>
            <a:ext cx="0" cy="1453896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FLOW_connector"/>
          <p:cNvCxnSpPr/>
          <p:nvPr/>
        </p:nvCxnSpPr>
        <p:spPr>
          <a:xfrm flipH="1">
            <a:off x="5303520" y="2633472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XT_Obs._context"/>
          <p:cNvSpPr txBox="1"/>
          <p:nvPr/>
        </p:nvSpPr>
        <p:spPr>
          <a:xfrm>
            <a:off x="5321808" y="1737360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101" name="FLOW_connector"/>
          <p:cNvCxnSpPr/>
          <p:nvPr/>
        </p:nvCxnSpPr>
        <p:spPr>
          <a:xfrm>
            <a:off x="5413248" y="1901952"/>
            <a:ext cx="301752" cy="0"/>
          </a:xfrm>
          <a:prstGeom prst="line">
            <a:avLst/>
          </a:prstGeom>
          <a:ln w="1651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BOX_Foresight_Transformer"/>
          <p:cNvSpPr/>
          <p:nvPr/>
        </p:nvSpPr>
        <p:spPr>
          <a:xfrm>
            <a:off x="5715000" y="1307592"/>
            <a:ext cx="1353312" cy="114300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03" name="BOX_Action cross-attention"/>
          <p:cNvSpPr/>
          <p:nvPr/>
        </p:nvSpPr>
        <p:spPr>
          <a:xfrm>
            <a:off x="5769864" y="2157984"/>
            <a:ext cx="1243584" cy="228600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04" name="TXT_Future queries"/>
          <p:cNvSpPr txBox="1"/>
          <p:nvPr/>
        </p:nvSpPr>
        <p:spPr>
          <a:xfrm>
            <a:off x="5870448" y="722376"/>
            <a:ext cx="100584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05" name="BOX_module"/>
          <p:cNvSpPr/>
          <p:nvPr/>
        </p:nvSpPr>
        <p:spPr>
          <a:xfrm>
            <a:off x="592531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BOX_module"/>
          <p:cNvSpPr/>
          <p:nvPr/>
        </p:nvSpPr>
        <p:spPr>
          <a:xfrm>
            <a:off x="606247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BOX_module"/>
          <p:cNvSpPr/>
          <p:nvPr/>
        </p:nvSpPr>
        <p:spPr>
          <a:xfrm>
            <a:off x="619963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XT_..."/>
          <p:cNvSpPr txBox="1"/>
          <p:nvPr/>
        </p:nvSpPr>
        <p:spPr>
          <a:xfrm>
            <a:off x="6318504" y="905256"/>
            <a:ext cx="182880" cy="10972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09" name="BOX_module"/>
          <p:cNvSpPr/>
          <p:nvPr/>
        </p:nvSpPr>
        <p:spPr>
          <a:xfrm>
            <a:off x="651052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BOX_module"/>
          <p:cNvSpPr/>
          <p:nvPr/>
        </p:nvSpPr>
        <p:spPr>
          <a:xfrm>
            <a:off x="664768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FLOW_connector"/>
          <p:cNvCxnSpPr/>
          <p:nvPr/>
        </p:nvCxnSpPr>
        <p:spPr>
          <a:xfrm>
            <a:off x="597560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FLOW_connector"/>
          <p:cNvCxnSpPr/>
          <p:nvPr/>
        </p:nvCxnSpPr>
        <p:spPr>
          <a:xfrm>
            <a:off x="611276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FLOW_connector"/>
          <p:cNvCxnSpPr/>
          <p:nvPr/>
        </p:nvCxnSpPr>
        <p:spPr>
          <a:xfrm>
            <a:off x="624992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FLOW_connector"/>
          <p:cNvCxnSpPr/>
          <p:nvPr/>
        </p:nvCxnSpPr>
        <p:spPr>
          <a:xfrm>
            <a:off x="656082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FLOW_connector"/>
          <p:cNvCxnSpPr/>
          <p:nvPr/>
        </p:nvCxnSpPr>
        <p:spPr>
          <a:xfrm>
            <a:off x="669798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XT_Actions"/>
          <p:cNvSpPr txBox="1"/>
          <p:nvPr/>
        </p:nvSpPr>
        <p:spPr>
          <a:xfrm>
            <a:off x="5340096" y="2468880"/>
            <a:ext cx="4389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117" name="FLOW_connector"/>
          <p:cNvCxnSpPr/>
          <p:nvPr/>
        </p:nvCxnSpPr>
        <p:spPr>
          <a:xfrm flipV="1">
            <a:off x="5468112" y="2615184"/>
            <a:ext cx="118872" cy="9144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FLOW_connector"/>
          <p:cNvCxnSpPr/>
          <p:nvPr/>
        </p:nvCxnSpPr>
        <p:spPr>
          <a:xfrm>
            <a:off x="5586984" y="2615184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FLOW_connector"/>
          <p:cNvCxnSpPr/>
          <p:nvPr/>
        </p:nvCxnSpPr>
        <p:spPr>
          <a:xfrm flipV="1">
            <a:off x="5468112" y="2651760"/>
            <a:ext cx="118872" cy="100584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FLOW_connector"/>
          <p:cNvCxnSpPr/>
          <p:nvPr/>
        </p:nvCxnSpPr>
        <p:spPr>
          <a:xfrm>
            <a:off x="5586984" y="2651760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FLOW_connector"/>
          <p:cNvCxnSpPr/>
          <p:nvPr/>
        </p:nvCxnSpPr>
        <p:spPr>
          <a:xfrm flipV="1">
            <a:off x="5468112" y="2688336"/>
            <a:ext cx="118872" cy="109728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FLOW_connector"/>
          <p:cNvCxnSpPr/>
          <p:nvPr/>
        </p:nvCxnSpPr>
        <p:spPr>
          <a:xfrm>
            <a:off x="5586984" y="2688336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BOX_Action_Embedding"/>
          <p:cNvSpPr/>
          <p:nvPr/>
        </p:nvSpPr>
        <p:spPr>
          <a:xfrm>
            <a:off x="5797296" y="2532888"/>
            <a:ext cx="566928" cy="292608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24" name="BOX_module"/>
          <p:cNvSpPr/>
          <p:nvPr/>
        </p:nvSpPr>
        <p:spPr>
          <a:xfrm>
            <a:off x="64282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OX_module"/>
          <p:cNvSpPr/>
          <p:nvPr/>
        </p:nvSpPr>
        <p:spPr>
          <a:xfrm>
            <a:off x="65425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BOX_module"/>
          <p:cNvSpPr/>
          <p:nvPr/>
        </p:nvSpPr>
        <p:spPr>
          <a:xfrm>
            <a:off x="66568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BOX_module"/>
          <p:cNvSpPr/>
          <p:nvPr/>
        </p:nvSpPr>
        <p:spPr>
          <a:xfrm>
            <a:off x="67711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OX_module"/>
          <p:cNvSpPr/>
          <p:nvPr/>
        </p:nvSpPr>
        <p:spPr>
          <a:xfrm>
            <a:off x="68854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FLOW_connector"/>
          <p:cNvCxnSpPr/>
          <p:nvPr/>
        </p:nvCxnSpPr>
        <p:spPr>
          <a:xfrm flipV="1">
            <a:off x="64739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FLOW_connector"/>
          <p:cNvCxnSpPr/>
          <p:nvPr/>
        </p:nvCxnSpPr>
        <p:spPr>
          <a:xfrm flipV="1">
            <a:off x="65882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FLOW_connector"/>
          <p:cNvCxnSpPr/>
          <p:nvPr/>
        </p:nvCxnSpPr>
        <p:spPr>
          <a:xfrm flipV="1">
            <a:off x="67025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FLOW_connector"/>
          <p:cNvCxnSpPr/>
          <p:nvPr/>
        </p:nvCxnSpPr>
        <p:spPr>
          <a:xfrm flipV="1">
            <a:off x="68168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FLOW_connector"/>
          <p:cNvCxnSpPr/>
          <p:nvPr/>
        </p:nvCxnSpPr>
        <p:spPr>
          <a:xfrm flipV="1">
            <a:off x="69311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FLOW_connector"/>
          <p:cNvCxnSpPr/>
          <p:nvPr/>
        </p:nvCxnSpPr>
        <p:spPr>
          <a:xfrm>
            <a:off x="7068312" y="1901952"/>
            <a:ext cx="182880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XT_Future tactile latents"/>
          <p:cNvSpPr txBox="1"/>
          <p:nvPr/>
        </p:nvSpPr>
        <p:spPr>
          <a:xfrm>
            <a:off x="7159752" y="713232"/>
            <a:ext cx="148132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36" name="BOX_module"/>
          <p:cNvSpPr/>
          <p:nvPr/>
        </p:nvSpPr>
        <p:spPr>
          <a:xfrm>
            <a:off x="728776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BOX_module"/>
          <p:cNvSpPr/>
          <p:nvPr/>
        </p:nvSpPr>
        <p:spPr>
          <a:xfrm>
            <a:off x="735634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BOX_module"/>
          <p:cNvSpPr/>
          <p:nvPr/>
        </p:nvSpPr>
        <p:spPr>
          <a:xfrm>
            <a:off x="7424927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BOX_module"/>
          <p:cNvSpPr/>
          <p:nvPr/>
        </p:nvSpPr>
        <p:spPr>
          <a:xfrm>
            <a:off x="728776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BOX_module"/>
          <p:cNvSpPr/>
          <p:nvPr/>
        </p:nvSpPr>
        <p:spPr>
          <a:xfrm>
            <a:off x="735634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BOX_module"/>
          <p:cNvSpPr/>
          <p:nvPr/>
        </p:nvSpPr>
        <p:spPr>
          <a:xfrm>
            <a:off x="7424927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BOX_module"/>
          <p:cNvSpPr/>
          <p:nvPr/>
        </p:nvSpPr>
        <p:spPr>
          <a:xfrm>
            <a:off x="728776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BOX_module"/>
          <p:cNvSpPr/>
          <p:nvPr/>
        </p:nvSpPr>
        <p:spPr>
          <a:xfrm>
            <a:off x="735634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OX_module"/>
          <p:cNvSpPr/>
          <p:nvPr/>
        </p:nvSpPr>
        <p:spPr>
          <a:xfrm>
            <a:off x="7424927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XT_t+1"/>
          <p:cNvSpPr txBox="1"/>
          <p:nvPr/>
        </p:nvSpPr>
        <p:spPr>
          <a:xfrm>
            <a:off x="7287768" y="1225296"/>
            <a:ext cx="219456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46" name="TXT_..."/>
          <p:cNvSpPr txBox="1"/>
          <p:nvPr/>
        </p:nvSpPr>
        <p:spPr>
          <a:xfrm>
            <a:off x="7616952" y="1042415"/>
            <a:ext cx="201168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47" name="BOX_module"/>
          <p:cNvSpPr/>
          <p:nvPr/>
        </p:nvSpPr>
        <p:spPr>
          <a:xfrm>
            <a:off x="785469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BOX_module"/>
          <p:cNvSpPr/>
          <p:nvPr/>
        </p:nvSpPr>
        <p:spPr>
          <a:xfrm>
            <a:off x="7923275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BOX_module"/>
          <p:cNvSpPr/>
          <p:nvPr/>
        </p:nvSpPr>
        <p:spPr>
          <a:xfrm>
            <a:off x="799185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BOX_module"/>
          <p:cNvSpPr/>
          <p:nvPr/>
        </p:nvSpPr>
        <p:spPr>
          <a:xfrm>
            <a:off x="785469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BOX_module"/>
          <p:cNvSpPr/>
          <p:nvPr/>
        </p:nvSpPr>
        <p:spPr>
          <a:xfrm>
            <a:off x="7923275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BOX_module"/>
          <p:cNvSpPr/>
          <p:nvPr/>
        </p:nvSpPr>
        <p:spPr>
          <a:xfrm>
            <a:off x="799185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BOX_module"/>
          <p:cNvSpPr/>
          <p:nvPr/>
        </p:nvSpPr>
        <p:spPr>
          <a:xfrm>
            <a:off x="785469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BOX_module"/>
          <p:cNvSpPr/>
          <p:nvPr/>
        </p:nvSpPr>
        <p:spPr>
          <a:xfrm>
            <a:off x="7923275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OX_module"/>
          <p:cNvSpPr/>
          <p:nvPr/>
        </p:nvSpPr>
        <p:spPr>
          <a:xfrm>
            <a:off x="799185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XT_t+H"/>
          <p:cNvSpPr txBox="1"/>
          <p:nvPr/>
        </p:nvSpPr>
        <p:spPr>
          <a:xfrm>
            <a:off x="7836408" y="1225296"/>
            <a:ext cx="25603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157" name="FLOW_connector"/>
          <p:cNvCxnSpPr/>
          <p:nvPr/>
        </p:nvCxnSpPr>
        <p:spPr>
          <a:xfrm>
            <a:off x="7516368" y="1143000"/>
            <a:ext cx="301752" cy="0"/>
          </a:xfrm>
          <a:prstGeom prst="line">
            <a:avLst/>
          </a:prstGeom>
          <a:ln w="8890">
            <a:solidFill>
              <a:srgbClr val="2D9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BOX_Marker_Decoder"/>
          <p:cNvSpPr/>
          <p:nvPr/>
        </p:nvSpPr>
        <p:spPr>
          <a:xfrm>
            <a:off x="7333488" y="1545336"/>
            <a:ext cx="603504" cy="384048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159" name="FLOW_connector"/>
          <p:cNvCxnSpPr/>
          <p:nvPr/>
        </p:nvCxnSpPr>
        <p:spPr>
          <a:xfrm flipV="1">
            <a:off x="7858810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FLOW_connector"/>
          <p:cNvCxnSpPr/>
          <p:nvPr/>
        </p:nvCxnSpPr>
        <p:spPr>
          <a:xfrm>
            <a:off x="7858810" y="1485442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FLOW_connector"/>
          <p:cNvCxnSpPr/>
          <p:nvPr/>
        </p:nvCxnSpPr>
        <p:spPr>
          <a:xfrm>
            <a:off x="7897215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BOX_module"/>
          <p:cNvSpPr/>
          <p:nvPr/>
        </p:nvSpPr>
        <p:spPr>
          <a:xfrm>
            <a:off x="7836408" y="1514246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FLOW_connector"/>
          <p:cNvCxnSpPr/>
          <p:nvPr/>
        </p:nvCxnSpPr>
        <p:spPr>
          <a:xfrm>
            <a:off x="7626096" y="1344168"/>
            <a:ext cx="0" cy="201168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Rectangle 337"/>
          <p:cNvSpPr/>
          <p:nvPr/>
        </p:nvSpPr>
        <p:spPr>
          <a:xfrm>
            <a:off x="8101583" y="1618488"/>
            <a:ext cx="31089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AME_foresight_pred_h1"/>
          <p:cNvSpPr/>
          <p:nvPr/>
        </p:nvSpPr>
        <p:spPr>
          <a:xfrm>
            <a:off x="8101583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8458200" y="1618488"/>
            <a:ext cx="31089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AME_foresight_pred_h8"/>
          <p:cNvSpPr/>
          <p:nvPr/>
        </p:nvSpPr>
        <p:spPr>
          <a:xfrm>
            <a:off x="8458200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8814815" y="1618488"/>
            <a:ext cx="310896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AME_foresight_pred_h16"/>
          <p:cNvSpPr/>
          <p:nvPr/>
        </p:nvSpPr>
        <p:spPr>
          <a:xfrm>
            <a:off x="8814815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FLOW_connector"/>
          <p:cNvCxnSpPr/>
          <p:nvPr/>
        </p:nvCxnSpPr>
        <p:spPr>
          <a:xfrm>
            <a:off x="7936992" y="1737360"/>
            <a:ext cx="146304" cy="36576"/>
          </a:xfrm>
          <a:prstGeom prst="line">
            <a:avLst/>
          </a:prstGeom>
          <a:ln w="1143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XT_Decoded contact evolutio"/>
          <p:cNvSpPr txBox="1"/>
          <p:nvPr/>
        </p:nvSpPr>
        <p:spPr>
          <a:xfrm>
            <a:off x="7973568" y="1956816"/>
            <a:ext cx="11887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72" name="TXT_parallel future"/>
          <p:cNvSpPr txBox="1"/>
          <p:nvPr/>
        </p:nvSpPr>
        <p:spPr>
          <a:xfrm>
            <a:off x="8001000" y="2139696"/>
            <a:ext cx="11430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73" name="TXT_(c) Contact-Quality Scor"/>
          <p:cNvSpPr txBox="1"/>
          <p:nvPr/>
        </p:nvSpPr>
        <p:spPr>
          <a:xfrm>
            <a:off x="9326880" y="429768"/>
            <a:ext cx="269748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9400032" y="8321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AME_board_marker_contact_mod"/>
          <p:cNvSpPr/>
          <p:nvPr/>
        </p:nvSpPr>
        <p:spPr>
          <a:xfrm>
            <a:off x="9400032" y="832104"/>
            <a:ext cx="347472" cy="347472"/>
          </a:xfrm>
          <a:prstGeom prst="rect">
            <a:avLst/>
          </a:prstGeom>
          <a:noFill/>
          <a:ln w="1270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BOX_+"/>
          <p:cNvSpPr/>
          <p:nvPr/>
        </p:nvSpPr>
        <p:spPr>
          <a:xfrm>
            <a:off x="9665207" y="795528"/>
            <a:ext cx="128016" cy="128016"/>
          </a:xfrm>
          <a:prstGeom prst="roundRect">
            <a:avLst/>
          </a:prstGeom>
          <a:solidFill>
            <a:srgbClr val="59A96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77" name="TXT_stable"/>
          <p:cNvSpPr txBox="1"/>
          <p:nvPr/>
        </p:nvSpPr>
        <p:spPr>
          <a:xfrm>
            <a:off x="9363456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912096" y="8321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AME_chip_ep01_f0046_left_rdp"/>
          <p:cNvSpPr/>
          <p:nvPr/>
        </p:nvSpPr>
        <p:spPr>
          <a:xfrm>
            <a:off x="9912096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BOX_-"/>
          <p:cNvSpPr/>
          <p:nvPr/>
        </p:nvSpPr>
        <p:spPr>
          <a:xfrm>
            <a:off x="10177272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81" name="TXT_dropout"/>
          <p:cNvSpPr txBox="1"/>
          <p:nvPr/>
        </p:nvSpPr>
        <p:spPr>
          <a:xfrm>
            <a:off x="9875520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424159" y="8321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AME_board_marker_contact_mod"/>
          <p:cNvSpPr/>
          <p:nvPr/>
        </p:nvSpPr>
        <p:spPr>
          <a:xfrm>
            <a:off x="10424159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BOX_-"/>
          <p:cNvSpPr/>
          <p:nvPr/>
        </p:nvSpPr>
        <p:spPr>
          <a:xfrm>
            <a:off x="10689335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85" name="TXT_low force"/>
          <p:cNvSpPr txBox="1"/>
          <p:nvPr/>
        </p:nvSpPr>
        <p:spPr>
          <a:xfrm>
            <a:off x="10387584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936224" y="8321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AME_board_marker_contact_mod"/>
          <p:cNvSpPr/>
          <p:nvPr/>
        </p:nvSpPr>
        <p:spPr>
          <a:xfrm>
            <a:off x="10936224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BOX_-"/>
          <p:cNvSpPr/>
          <p:nvPr/>
        </p:nvSpPr>
        <p:spPr>
          <a:xfrm>
            <a:off x="11201399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89" name="TXT_excess"/>
          <p:cNvSpPr txBox="1"/>
          <p:nvPr/>
        </p:nvSpPr>
        <p:spPr>
          <a:xfrm>
            <a:off x="10899648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1448288" y="8321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AME_board_marker_contact_mod"/>
          <p:cNvSpPr/>
          <p:nvPr/>
        </p:nvSpPr>
        <p:spPr>
          <a:xfrm>
            <a:off x="11448288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BOX_-"/>
          <p:cNvSpPr/>
          <p:nvPr/>
        </p:nvSpPr>
        <p:spPr>
          <a:xfrm>
            <a:off x="11713463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sp>
        <p:nvSpPr>
          <p:cNvPr id="193" name="TXT_slip"/>
          <p:cNvSpPr txBox="1"/>
          <p:nvPr/>
        </p:nvSpPr>
        <p:spPr>
          <a:xfrm>
            <a:off x="11411712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194" name="FLOW_connector"/>
          <p:cNvCxnSpPr/>
          <p:nvPr/>
        </p:nvCxnSpPr>
        <p:spPr>
          <a:xfrm>
            <a:off x="9381744" y="1399032"/>
            <a:ext cx="2551176" cy="0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XT_aligned action"/>
          <p:cNvSpPr txBox="1"/>
          <p:nvPr/>
        </p:nvSpPr>
        <p:spPr>
          <a:xfrm>
            <a:off x="9381744" y="1508760"/>
            <a:ext cx="10058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196" name="BOX_module"/>
          <p:cNvSpPr/>
          <p:nvPr/>
        </p:nvSpPr>
        <p:spPr>
          <a:xfrm>
            <a:off x="9454896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BOX_module"/>
          <p:cNvSpPr/>
          <p:nvPr/>
        </p:nvSpPr>
        <p:spPr>
          <a:xfrm>
            <a:off x="9605772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BOX_module"/>
          <p:cNvSpPr/>
          <p:nvPr/>
        </p:nvSpPr>
        <p:spPr>
          <a:xfrm>
            <a:off x="9756648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BOX_module"/>
          <p:cNvSpPr/>
          <p:nvPr/>
        </p:nvSpPr>
        <p:spPr>
          <a:xfrm>
            <a:off x="9907524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BOX_module"/>
          <p:cNvSpPr/>
          <p:nvPr/>
        </p:nvSpPr>
        <p:spPr>
          <a:xfrm>
            <a:off x="10058400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XT_predicted touch"/>
          <p:cNvSpPr txBox="1"/>
          <p:nvPr/>
        </p:nvSpPr>
        <p:spPr>
          <a:xfrm>
            <a:off x="9381744" y="1938528"/>
            <a:ext cx="10058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202" name="BOX_module"/>
          <p:cNvSpPr/>
          <p:nvPr/>
        </p:nvSpPr>
        <p:spPr>
          <a:xfrm>
            <a:off x="9454896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BOX_module"/>
          <p:cNvSpPr/>
          <p:nvPr/>
        </p:nvSpPr>
        <p:spPr>
          <a:xfrm>
            <a:off x="9605772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BOX_module"/>
          <p:cNvSpPr/>
          <p:nvPr/>
        </p:nvSpPr>
        <p:spPr>
          <a:xfrm>
            <a:off x="9756648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BOX_module"/>
          <p:cNvSpPr/>
          <p:nvPr/>
        </p:nvSpPr>
        <p:spPr>
          <a:xfrm>
            <a:off x="9907524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BOX_module"/>
          <p:cNvSpPr/>
          <p:nvPr/>
        </p:nvSpPr>
        <p:spPr>
          <a:xfrm>
            <a:off x="10058400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BOX_Contact-Quality_Scorer"/>
          <p:cNvSpPr/>
          <p:nvPr/>
        </p:nvSpPr>
        <p:spPr>
          <a:xfrm>
            <a:off x="10561320" y="1700784"/>
            <a:ext cx="713232" cy="658368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208" name="EDITABLE_CURVED_FLOW"/>
          <p:cNvCxnSpPr/>
          <p:nvPr/>
        </p:nvCxnSpPr>
        <p:spPr>
          <a:xfrm>
            <a:off x="10204704" y="1773936"/>
            <a:ext cx="356616" cy="128016"/>
          </a:xfrm>
          <a:prstGeom prst="curvedConnector3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EDITABLE_CURVED_FLOW"/>
          <p:cNvCxnSpPr/>
          <p:nvPr/>
        </p:nvCxnSpPr>
        <p:spPr>
          <a:xfrm flipV="1">
            <a:off x="10204704" y="2112264"/>
            <a:ext cx="356616" cy="91440"/>
          </a:xfrm>
          <a:prstGeom prst="curvedConnector3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XT_stable contact"/>
          <p:cNvSpPr txBox="1"/>
          <p:nvPr/>
        </p:nvSpPr>
        <p:spPr>
          <a:xfrm>
            <a:off x="11384280" y="1673352"/>
            <a:ext cx="57607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</a:p>
        </p:txBody>
      </p:sp>
      <p:sp>
        <p:nvSpPr>
          <p:cNvPr id="211" name="BOX_module"/>
          <p:cNvSpPr/>
          <p:nvPr/>
        </p:nvSpPr>
        <p:spPr>
          <a:xfrm>
            <a:off x="11393424" y="1856231"/>
            <a:ext cx="484632" cy="91440"/>
          </a:xfrm>
          <a:prstGeom prst="roundRect">
            <a:avLst/>
          </a:prstGeom>
          <a:solidFill>
            <a:srgbClr val="59A968"/>
          </a:solidFill>
          <a:ln w="1143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XT_failure risk"/>
          <p:cNvSpPr txBox="1"/>
          <p:nvPr/>
        </p:nvSpPr>
        <p:spPr>
          <a:xfrm>
            <a:off x="11384280" y="2057400"/>
            <a:ext cx="57607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</a:p>
        </p:txBody>
      </p:sp>
      <p:sp>
        <p:nvSpPr>
          <p:cNvPr id="213" name="BOX_module"/>
          <p:cNvSpPr/>
          <p:nvPr/>
        </p:nvSpPr>
        <p:spPr>
          <a:xfrm>
            <a:off x="11393424" y="2240280"/>
            <a:ext cx="283464" cy="91440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FLOW_connector"/>
          <p:cNvCxnSpPr/>
          <p:nvPr/>
        </p:nvCxnSpPr>
        <p:spPr>
          <a:xfrm>
            <a:off x="11274552" y="2029968"/>
            <a:ext cx="100584" cy="0"/>
          </a:xfrm>
          <a:prstGeom prst="line">
            <a:avLst/>
          </a:prstGeom>
          <a:ln w="12700">
            <a:solidFill>
              <a:srgbClr val="C6A24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XT_INFERENCE-TIME PREDICTIV"/>
          <p:cNvSpPr txBox="1"/>
          <p:nvPr/>
        </p:nvSpPr>
        <p:spPr>
          <a:xfrm>
            <a:off x="164592" y="2962656"/>
            <a:ext cx="384048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</a:p>
        </p:txBody>
      </p:sp>
      <p:sp>
        <p:nvSpPr>
          <p:cNvPr id="216" name="TXT_Frozen modules; guidance"/>
          <p:cNvSpPr txBox="1"/>
          <p:nvPr/>
        </p:nvSpPr>
        <p:spPr>
          <a:xfrm>
            <a:off x="164592" y="3172968"/>
            <a:ext cx="338328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</a:p>
        </p:txBody>
      </p:sp>
      <p:sp>
        <p:nvSpPr>
          <p:cNvPr id="217" name="BOX_module"/>
          <p:cNvSpPr/>
          <p:nvPr/>
        </p:nvSpPr>
        <p:spPr>
          <a:xfrm>
            <a:off x="2880360" y="345643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BOX_module"/>
          <p:cNvSpPr/>
          <p:nvPr/>
        </p:nvSpPr>
        <p:spPr>
          <a:xfrm>
            <a:off x="3003804" y="345643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BOX_module"/>
          <p:cNvSpPr/>
          <p:nvPr/>
        </p:nvSpPr>
        <p:spPr>
          <a:xfrm>
            <a:off x="3127248" y="345643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BOX_module"/>
          <p:cNvSpPr/>
          <p:nvPr/>
        </p:nvSpPr>
        <p:spPr>
          <a:xfrm>
            <a:off x="3246120" y="3401568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BOX_module"/>
          <p:cNvSpPr/>
          <p:nvPr/>
        </p:nvSpPr>
        <p:spPr>
          <a:xfrm>
            <a:off x="3305556" y="3401568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BOX_module"/>
          <p:cNvSpPr/>
          <p:nvPr/>
        </p:nvSpPr>
        <p:spPr>
          <a:xfrm>
            <a:off x="3364991" y="3401568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BOX_module"/>
          <p:cNvSpPr/>
          <p:nvPr/>
        </p:nvSpPr>
        <p:spPr>
          <a:xfrm>
            <a:off x="3246120" y="346100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BOX_module"/>
          <p:cNvSpPr/>
          <p:nvPr/>
        </p:nvSpPr>
        <p:spPr>
          <a:xfrm>
            <a:off x="3305556" y="346100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BOX_module"/>
          <p:cNvSpPr/>
          <p:nvPr/>
        </p:nvSpPr>
        <p:spPr>
          <a:xfrm>
            <a:off x="3364991" y="346100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BOX_module"/>
          <p:cNvSpPr/>
          <p:nvPr/>
        </p:nvSpPr>
        <p:spPr>
          <a:xfrm>
            <a:off x="3246120" y="352044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BOX_module"/>
          <p:cNvSpPr/>
          <p:nvPr/>
        </p:nvSpPr>
        <p:spPr>
          <a:xfrm>
            <a:off x="3305556" y="352044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BOX_module"/>
          <p:cNvSpPr/>
          <p:nvPr/>
        </p:nvSpPr>
        <p:spPr>
          <a:xfrm>
            <a:off x="3364991" y="352044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XT_current context"/>
          <p:cNvSpPr txBox="1"/>
          <p:nvPr/>
        </p:nvSpPr>
        <p:spPr>
          <a:xfrm>
            <a:off x="2807208" y="3246120"/>
            <a:ext cx="73152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230" name="BOX_Denoiser"/>
          <p:cNvSpPr/>
          <p:nvPr/>
        </p:nvSpPr>
        <p:spPr>
          <a:xfrm>
            <a:off x="3730752" y="3364992"/>
            <a:ext cx="658368" cy="45720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231" name="FLOW_connector"/>
          <p:cNvCxnSpPr/>
          <p:nvPr/>
        </p:nvCxnSpPr>
        <p:spPr>
          <a:xfrm flipV="1">
            <a:off x="4301794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FLOW_connector"/>
          <p:cNvCxnSpPr/>
          <p:nvPr/>
        </p:nvCxnSpPr>
        <p:spPr>
          <a:xfrm>
            <a:off x="4301794" y="3295954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FLOW_connector"/>
          <p:cNvCxnSpPr/>
          <p:nvPr/>
        </p:nvCxnSpPr>
        <p:spPr>
          <a:xfrm>
            <a:off x="4340199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BOX_module"/>
          <p:cNvSpPr/>
          <p:nvPr/>
        </p:nvSpPr>
        <p:spPr>
          <a:xfrm>
            <a:off x="4279392" y="3324758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EDITABLE_CURVED_FLOW"/>
          <p:cNvCxnSpPr/>
          <p:nvPr/>
        </p:nvCxnSpPr>
        <p:spPr>
          <a:xfrm>
            <a:off x="3529584" y="3575304"/>
            <a:ext cx="201168" cy="27432"/>
          </a:xfrm>
          <a:prstGeom prst="curvedConnector3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BOX_module"/>
          <p:cNvSpPr/>
          <p:nvPr/>
        </p:nvSpPr>
        <p:spPr>
          <a:xfrm>
            <a:off x="4590288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BOX_module"/>
          <p:cNvSpPr/>
          <p:nvPr/>
        </p:nvSpPr>
        <p:spPr>
          <a:xfrm>
            <a:off x="4722875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BOX_module"/>
          <p:cNvSpPr/>
          <p:nvPr/>
        </p:nvSpPr>
        <p:spPr>
          <a:xfrm>
            <a:off x="4855464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BOX_module"/>
          <p:cNvSpPr/>
          <p:nvPr/>
        </p:nvSpPr>
        <p:spPr>
          <a:xfrm>
            <a:off x="4988051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XT_clean action estimate"/>
          <p:cNvSpPr txBox="1"/>
          <p:nvPr/>
        </p:nvSpPr>
        <p:spPr>
          <a:xfrm>
            <a:off x="4498848" y="3264408"/>
            <a:ext cx="9144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241" name="EDITABLE_CURVED_FLOW"/>
          <p:cNvCxnSpPr/>
          <p:nvPr/>
        </p:nvCxnSpPr>
        <p:spPr>
          <a:xfrm>
            <a:off x="4389120" y="3602736"/>
            <a:ext cx="182880" cy="0"/>
          </a:xfrm>
          <a:prstGeom prst="curvedConnector3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BOX_Foresight"/>
          <p:cNvSpPr/>
          <p:nvPr/>
        </p:nvSpPr>
        <p:spPr>
          <a:xfrm>
            <a:off x="5212080" y="3364992"/>
            <a:ext cx="676656" cy="457200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243" name="FLOW_connector"/>
          <p:cNvCxnSpPr/>
          <p:nvPr/>
        </p:nvCxnSpPr>
        <p:spPr>
          <a:xfrm flipV="1">
            <a:off x="5801410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FLOW_connector"/>
          <p:cNvCxnSpPr/>
          <p:nvPr/>
        </p:nvCxnSpPr>
        <p:spPr>
          <a:xfrm>
            <a:off x="5801410" y="3295954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FLOW_connector"/>
          <p:cNvCxnSpPr/>
          <p:nvPr/>
        </p:nvCxnSpPr>
        <p:spPr>
          <a:xfrm>
            <a:off x="5839815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BOX_module"/>
          <p:cNvSpPr/>
          <p:nvPr/>
        </p:nvSpPr>
        <p:spPr>
          <a:xfrm>
            <a:off x="5779008" y="3324758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EDITABLE_CURVED_FLOW"/>
          <p:cNvCxnSpPr/>
          <p:nvPr/>
        </p:nvCxnSpPr>
        <p:spPr>
          <a:xfrm>
            <a:off x="5093208" y="3602736"/>
            <a:ext cx="118872" cy="0"/>
          </a:xfrm>
          <a:prstGeom prst="curvedConnector3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EDITABLE_CURVED_FLOW"/>
          <p:cNvCxnSpPr/>
          <p:nvPr/>
        </p:nvCxnSpPr>
        <p:spPr>
          <a:xfrm flipV="1">
            <a:off x="3401568" y="3364992"/>
            <a:ext cx="2039112" cy="109728"/>
          </a:xfrm>
          <a:prstGeom prst="curvedConnector3">
            <a:avLst/>
          </a:prstGeom>
          <a:ln w="1016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Rectangle 345"/>
          <p:cNvSpPr/>
          <p:nvPr/>
        </p:nvSpPr>
        <p:spPr>
          <a:xfrm>
            <a:off x="6108192" y="3410712"/>
            <a:ext cx="3383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AME_foresight_pred_h1"/>
          <p:cNvSpPr/>
          <p:nvPr/>
        </p:nvSpPr>
        <p:spPr>
          <a:xfrm>
            <a:off x="6108192" y="3410712"/>
            <a:ext cx="338328" cy="338328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6501383" y="3410712"/>
            <a:ext cx="3383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FRAME_foresight_pred_h8"/>
          <p:cNvSpPr/>
          <p:nvPr/>
        </p:nvSpPr>
        <p:spPr>
          <a:xfrm>
            <a:off x="6501383" y="3410712"/>
            <a:ext cx="338328" cy="338328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6894576" y="3410712"/>
            <a:ext cx="3383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FRAME_foresight_pred_h16"/>
          <p:cNvSpPr/>
          <p:nvPr/>
        </p:nvSpPr>
        <p:spPr>
          <a:xfrm>
            <a:off x="6894576" y="3410712"/>
            <a:ext cx="338328" cy="338328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XT_predicted tactile future"/>
          <p:cNvSpPr txBox="1"/>
          <p:nvPr/>
        </p:nvSpPr>
        <p:spPr>
          <a:xfrm>
            <a:off x="6016752" y="3218688"/>
            <a:ext cx="129844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256" name="EDITABLE_CURVED_FLOW"/>
          <p:cNvCxnSpPr/>
          <p:nvPr/>
        </p:nvCxnSpPr>
        <p:spPr>
          <a:xfrm>
            <a:off x="5888736" y="3602736"/>
            <a:ext cx="201168" cy="0"/>
          </a:xfrm>
          <a:prstGeom prst="curvedConnector3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BOX_module"/>
          <p:cNvSpPr/>
          <p:nvPr/>
        </p:nvSpPr>
        <p:spPr>
          <a:xfrm>
            <a:off x="7452360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BOX_module"/>
          <p:cNvSpPr/>
          <p:nvPr/>
        </p:nvSpPr>
        <p:spPr>
          <a:xfrm>
            <a:off x="7552944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BOX_module"/>
          <p:cNvSpPr/>
          <p:nvPr/>
        </p:nvSpPr>
        <p:spPr>
          <a:xfrm>
            <a:off x="7653528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BOX_module"/>
          <p:cNvSpPr/>
          <p:nvPr/>
        </p:nvSpPr>
        <p:spPr>
          <a:xfrm>
            <a:off x="7754112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BOX_module"/>
          <p:cNvSpPr/>
          <p:nvPr/>
        </p:nvSpPr>
        <p:spPr>
          <a:xfrm>
            <a:off x="7452360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BOX_module"/>
          <p:cNvSpPr/>
          <p:nvPr/>
        </p:nvSpPr>
        <p:spPr>
          <a:xfrm>
            <a:off x="7552944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BOX_module"/>
          <p:cNvSpPr/>
          <p:nvPr/>
        </p:nvSpPr>
        <p:spPr>
          <a:xfrm>
            <a:off x="7653528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BOX_module"/>
          <p:cNvSpPr/>
          <p:nvPr/>
        </p:nvSpPr>
        <p:spPr>
          <a:xfrm>
            <a:off x="7754112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BOX_Scorer"/>
          <p:cNvSpPr/>
          <p:nvPr/>
        </p:nvSpPr>
        <p:spPr>
          <a:xfrm>
            <a:off x="7936992" y="3364992"/>
            <a:ext cx="621792" cy="457200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</a:p>
        </p:txBody>
      </p:sp>
      <p:cxnSp>
        <p:nvCxnSpPr>
          <p:cNvPr id="266" name="FLOW_connector"/>
          <p:cNvCxnSpPr/>
          <p:nvPr/>
        </p:nvCxnSpPr>
        <p:spPr>
          <a:xfrm flipV="1">
            <a:off x="8471458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FLOW_connector"/>
          <p:cNvCxnSpPr/>
          <p:nvPr/>
        </p:nvCxnSpPr>
        <p:spPr>
          <a:xfrm>
            <a:off x="8471458" y="3295954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FLOW_connector"/>
          <p:cNvCxnSpPr/>
          <p:nvPr/>
        </p:nvCxnSpPr>
        <p:spPr>
          <a:xfrm>
            <a:off x="8509863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BOX_module"/>
          <p:cNvSpPr/>
          <p:nvPr/>
        </p:nvSpPr>
        <p:spPr>
          <a:xfrm>
            <a:off x="8449056" y="3324758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EDITABLE_CURVED_FLOW"/>
          <p:cNvCxnSpPr/>
          <p:nvPr/>
        </p:nvCxnSpPr>
        <p:spPr>
          <a:xfrm>
            <a:off x="7296912" y="3584448"/>
            <a:ext cx="640080" cy="27432"/>
          </a:xfrm>
          <a:prstGeom prst="curvedConnector3">
            <a:avLst/>
          </a:prstGeom>
          <a:ln w="1143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FLOW_connector"/>
          <p:cNvCxnSpPr/>
          <p:nvPr/>
        </p:nvCxnSpPr>
        <p:spPr>
          <a:xfrm>
            <a:off x="4855464" y="3703320"/>
            <a:ext cx="0" cy="201167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FLOW_connector"/>
          <p:cNvCxnSpPr/>
          <p:nvPr/>
        </p:nvCxnSpPr>
        <p:spPr>
          <a:xfrm>
            <a:off x="4855464" y="3904487"/>
            <a:ext cx="2935224" cy="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FLOW_connector"/>
          <p:cNvCxnSpPr/>
          <p:nvPr/>
        </p:nvCxnSpPr>
        <p:spPr>
          <a:xfrm flipV="1">
            <a:off x="7790688" y="3730752"/>
            <a:ext cx="0" cy="173735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FLOW_connector"/>
          <p:cNvCxnSpPr/>
          <p:nvPr/>
        </p:nvCxnSpPr>
        <p:spPr>
          <a:xfrm>
            <a:off x="7790688" y="3730752"/>
            <a:ext cx="146304" cy="0"/>
          </a:xfrm>
          <a:prstGeom prst="line">
            <a:avLst/>
          </a:prstGeom>
          <a:ln w="1016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BOX_module"/>
          <p:cNvSpPr/>
          <p:nvPr/>
        </p:nvSpPr>
        <p:spPr>
          <a:xfrm>
            <a:off x="8778240" y="3511296"/>
            <a:ext cx="155448" cy="155448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XT_low quality"/>
          <p:cNvSpPr txBox="1"/>
          <p:nvPr/>
        </p:nvSpPr>
        <p:spPr>
          <a:xfrm>
            <a:off x="8961120" y="3483864"/>
            <a:ext cx="566928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</a:p>
        </p:txBody>
      </p:sp>
      <p:cxnSp>
        <p:nvCxnSpPr>
          <p:cNvPr id="277" name="EDITABLE_CURVED_FLOW"/>
          <p:cNvCxnSpPr/>
          <p:nvPr/>
        </p:nvCxnSpPr>
        <p:spPr>
          <a:xfrm>
            <a:off x="8558784" y="3602736"/>
            <a:ext cx="210312" cy="0"/>
          </a:xfrm>
          <a:prstGeom prst="curvedConnector3">
            <a:avLst/>
          </a:prstGeom>
          <a:ln w="12700">
            <a:solidFill>
              <a:srgbClr val="D85D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BOX_module"/>
          <p:cNvSpPr/>
          <p:nvPr/>
        </p:nvSpPr>
        <p:spPr>
          <a:xfrm>
            <a:off x="292608" y="4526280"/>
            <a:ext cx="137160" cy="137160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BOX_module"/>
          <p:cNvSpPr/>
          <p:nvPr/>
        </p:nvSpPr>
        <p:spPr>
          <a:xfrm>
            <a:off x="452628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BOX_module"/>
          <p:cNvSpPr/>
          <p:nvPr/>
        </p:nvSpPr>
        <p:spPr>
          <a:xfrm>
            <a:off x="612647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BOX_module"/>
          <p:cNvSpPr/>
          <p:nvPr/>
        </p:nvSpPr>
        <p:spPr>
          <a:xfrm>
            <a:off x="772668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BOX_module"/>
          <p:cNvSpPr/>
          <p:nvPr/>
        </p:nvSpPr>
        <p:spPr>
          <a:xfrm>
            <a:off x="932688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XT_initial noise"/>
          <p:cNvSpPr txBox="1"/>
          <p:nvPr/>
        </p:nvSpPr>
        <p:spPr>
          <a:xfrm>
            <a:off x="246888" y="4745736"/>
            <a:ext cx="84124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284" name="FLOW_connector"/>
          <p:cNvCxnSpPr/>
          <p:nvPr/>
        </p:nvCxnSpPr>
        <p:spPr>
          <a:xfrm>
            <a:off x="1115568" y="4599432"/>
            <a:ext cx="420624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XT_..."/>
          <p:cNvSpPr txBox="1"/>
          <p:nvPr/>
        </p:nvSpPr>
        <p:spPr>
          <a:xfrm>
            <a:off x="1344168" y="450799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286" name="BOX_module"/>
          <p:cNvSpPr/>
          <p:nvPr/>
        </p:nvSpPr>
        <p:spPr>
          <a:xfrm>
            <a:off x="1664208" y="4443984"/>
            <a:ext cx="1143000" cy="320040"/>
          </a:xfrm>
          <a:prstGeom prst="roundRect">
            <a:avLst/>
          </a:prstGeom>
          <a:solidFill>
            <a:srgbClr val="E8F0F8"/>
          </a:solidFill>
          <a:ln w="1651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BOX_module"/>
          <p:cNvSpPr/>
          <p:nvPr/>
        </p:nvSpPr>
        <p:spPr>
          <a:xfrm>
            <a:off x="1755648" y="4526280"/>
            <a:ext cx="128016" cy="128016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BOX_module"/>
          <p:cNvSpPr/>
          <p:nvPr/>
        </p:nvSpPr>
        <p:spPr>
          <a:xfrm>
            <a:off x="1906524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BOX_module"/>
          <p:cNvSpPr/>
          <p:nvPr/>
        </p:nvSpPr>
        <p:spPr>
          <a:xfrm>
            <a:off x="2057400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BOX_module"/>
          <p:cNvSpPr/>
          <p:nvPr/>
        </p:nvSpPr>
        <p:spPr>
          <a:xfrm>
            <a:off x="2208276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BOX_module"/>
          <p:cNvSpPr/>
          <p:nvPr/>
        </p:nvSpPr>
        <p:spPr>
          <a:xfrm>
            <a:off x="2359152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XT_selected late state"/>
          <p:cNvSpPr txBox="1"/>
          <p:nvPr/>
        </p:nvSpPr>
        <p:spPr>
          <a:xfrm>
            <a:off x="1627632" y="4754880"/>
            <a:ext cx="12070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293" name="FLOW_connector"/>
          <p:cNvCxnSpPr/>
          <p:nvPr/>
        </p:nvCxnSpPr>
        <p:spPr>
          <a:xfrm>
            <a:off x="2807208" y="4599432"/>
            <a:ext cx="420624" cy="0"/>
          </a:xfrm>
          <a:prstGeom prst="line">
            <a:avLst/>
          </a:prstGeom>
          <a:ln w="21590">
            <a:solidFill>
              <a:srgbClr val="59A9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XT_guided update"/>
          <p:cNvSpPr txBox="1"/>
          <p:nvPr/>
        </p:nvSpPr>
        <p:spPr>
          <a:xfrm>
            <a:off x="2816352" y="4315968"/>
            <a:ext cx="420624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295" name="BOX_module"/>
          <p:cNvSpPr/>
          <p:nvPr/>
        </p:nvSpPr>
        <p:spPr>
          <a:xfrm>
            <a:off x="3227832" y="4443984"/>
            <a:ext cx="1143000" cy="320040"/>
          </a:xfrm>
          <a:prstGeom prst="roundRect">
            <a:avLst/>
          </a:prstGeom>
          <a:solidFill>
            <a:srgbClr val="E2F2E4"/>
          </a:solidFill>
          <a:ln w="16510">
            <a:solidFill>
              <a:srgbClr val="3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BOX_module"/>
          <p:cNvSpPr/>
          <p:nvPr/>
        </p:nvSpPr>
        <p:spPr>
          <a:xfrm>
            <a:off x="3319272" y="4526280"/>
            <a:ext cx="128016" cy="128016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BOX_module"/>
          <p:cNvSpPr/>
          <p:nvPr/>
        </p:nvSpPr>
        <p:spPr>
          <a:xfrm>
            <a:off x="3470148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BOX_module"/>
          <p:cNvSpPr/>
          <p:nvPr/>
        </p:nvSpPr>
        <p:spPr>
          <a:xfrm>
            <a:off x="3621024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BOX_module"/>
          <p:cNvSpPr/>
          <p:nvPr/>
        </p:nvSpPr>
        <p:spPr>
          <a:xfrm>
            <a:off x="3771900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BOX_module"/>
          <p:cNvSpPr/>
          <p:nvPr/>
        </p:nvSpPr>
        <p:spPr>
          <a:xfrm>
            <a:off x="3922776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XT_updated state"/>
          <p:cNvSpPr txBox="1"/>
          <p:nvPr/>
        </p:nvSpPr>
        <p:spPr>
          <a:xfrm>
            <a:off x="3200400" y="4754880"/>
            <a:ext cx="11887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302" name="FLOW_connector"/>
          <p:cNvCxnSpPr/>
          <p:nvPr/>
        </p:nvCxnSpPr>
        <p:spPr>
          <a:xfrm>
            <a:off x="4370832" y="4599432"/>
            <a:ext cx="338328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BOX_module"/>
          <p:cNvSpPr/>
          <p:nvPr/>
        </p:nvSpPr>
        <p:spPr>
          <a:xfrm>
            <a:off x="470916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BOX_module"/>
          <p:cNvSpPr/>
          <p:nvPr/>
        </p:nvSpPr>
        <p:spPr>
          <a:xfrm>
            <a:off x="486918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BOX_module"/>
          <p:cNvSpPr/>
          <p:nvPr/>
        </p:nvSpPr>
        <p:spPr>
          <a:xfrm>
            <a:off x="502920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BOX_module"/>
          <p:cNvSpPr/>
          <p:nvPr/>
        </p:nvSpPr>
        <p:spPr>
          <a:xfrm>
            <a:off x="518922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BOX_module"/>
          <p:cNvSpPr/>
          <p:nvPr/>
        </p:nvSpPr>
        <p:spPr>
          <a:xfrm>
            <a:off x="534924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BOX_module"/>
          <p:cNvSpPr/>
          <p:nvPr/>
        </p:nvSpPr>
        <p:spPr>
          <a:xfrm>
            <a:off x="550926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BOX_module"/>
          <p:cNvSpPr/>
          <p:nvPr/>
        </p:nvSpPr>
        <p:spPr>
          <a:xfrm>
            <a:off x="566928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XT_continued frozen denoisi"/>
          <p:cNvSpPr txBox="1"/>
          <p:nvPr/>
        </p:nvSpPr>
        <p:spPr>
          <a:xfrm>
            <a:off x="4617720" y="4754880"/>
            <a:ext cx="14173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311" name="FLOW_connector"/>
          <p:cNvCxnSpPr/>
          <p:nvPr/>
        </p:nvCxnSpPr>
        <p:spPr>
          <a:xfrm>
            <a:off x="5870448" y="4599432"/>
            <a:ext cx="530352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TXT_..."/>
          <p:cNvSpPr txBox="1"/>
          <p:nvPr/>
        </p:nvSpPr>
        <p:spPr>
          <a:xfrm>
            <a:off x="6062472" y="450799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sp>
        <p:nvSpPr>
          <p:cNvPr id="313" name="BOX_module"/>
          <p:cNvSpPr/>
          <p:nvPr/>
        </p:nvSpPr>
        <p:spPr>
          <a:xfrm>
            <a:off x="644652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BOX_module"/>
          <p:cNvSpPr/>
          <p:nvPr/>
        </p:nvSpPr>
        <p:spPr>
          <a:xfrm>
            <a:off x="660654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BOX_module"/>
          <p:cNvSpPr/>
          <p:nvPr/>
        </p:nvSpPr>
        <p:spPr>
          <a:xfrm>
            <a:off x="6766559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BOX_module"/>
          <p:cNvSpPr/>
          <p:nvPr/>
        </p:nvSpPr>
        <p:spPr>
          <a:xfrm>
            <a:off x="6926579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BOX_module"/>
          <p:cNvSpPr/>
          <p:nvPr/>
        </p:nvSpPr>
        <p:spPr>
          <a:xfrm>
            <a:off x="708660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BOX_module"/>
          <p:cNvSpPr/>
          <p:nvPr/>
        </p:nvSpPr>
        <p:spPr>
          <a:xfrm>
            <a:off x="724662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XT_final guided action"/>
          <p:cNvSpPr txBox="1"/>
          <p:nvPr/>
        </p:nvSpPr>
        <p:spPr>
          <a:xfrm>
            <a:off x="6400800" y="4754880"/>
            <a:ext cx="109728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320" name="FLOW_connector"/>
          <p:cNvCxnSpPr/>
          <p:nvPr/>
        </p:nvCxnSpPr>
        <p:spPr>
          <a:xfrm>
            <a:off x="7479792" y="4599432"/>
            <a:ext cx="411480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ctangle 348"/>
          <p:cNvSpPr/>
          <p:nvPr/>
        </p:nvSpPr>
        <p:spPr>
          <a:xfrm>
            <a:off x="7918704" y="4315968"/>
            <a:ext cx="731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AME_chip_execution_clean_t10"/>
          <p:cNvSpPr/>
          <p:nvPr/>
        </p:nvSpPr>
        <p:spPr>
          <a:xfrm>
            <a:off x="7918704" y="4315968"/>
            <a:ext cx="731520" cy="493776"/>
          </a:xfrm>
          <a:prstGeom prst="rect">
            <a:avLst/>
          </a:prstGeom>
          <a:noFill/>
          <a:ln w="1016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XT_execute &amp; replan"/>
          <p:cNvSpPr txBox="1"/>
          <p:nvPr/>
        </p:nvSpPr>
        <p:spPr>
          <a:xfrm>
            <a:off x="7836408" y="4828032"/>
            <a:ext cx="93268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324" name="FLOW_connector"/>
          <p:cNvCxnSpPr/>
          <p:nvPr/>
        </p:nvCxnSpPr>
        <p:spPr>
          <a:xfrm>
            <a:off x="8851392" y="3694176"/>
            <a:ext cx="0" cy="411480"/>
          </a:xfrm>
          <a:prstGeom prst="line">
            <a:avLst/>
          </a:prstGeom>
          <a:ln w="16510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FLOW_connector"/>
          <p:cNvCxnSpPr/>
          <p:nvPr/>
        </p:nvCxnSpPr>
        <p:spPr>
          <a:xfrm flipH="1">
            <a:off x="2221992" y="4105656"/>
            <a:ext cx="6629400" cy="0"/>
          </a:xfrm>
          <a:prstGeom prst="line">
            <a:avLst/>
          </a:prstGeom>
          <a:ln w="16510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FLOW_connector"/>
          <p:cNvCxnSpPr/>
          <p:nvPr/>
        </p:nvCxnSpPr>
        <p:spPr>
          <a:xfrm>
            <a:off x="2221992" y="4105656"/>
            <a:ext cx="0" cy="338328"/>
          </a:xfrm>
          <a:prstGeom prst="line">
            <a:avLst/>
          </a:prstGeom>
          <a:ln w="16510">
            <a:solidFill>
              <a:srgbClr val="E78A3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XT_quality gradient"/>
          <p:cNvSpPr txBox="1"/>
          <p:nvPr/>
        </p:nvSpPr>
        <p:spPr>
          <a:xfrm>
            <a:off x="7973568" y="3913632"/>
            <a:ext cx="84124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</a:p>
        </p:txBody>
      </p:sp>
      <p:cxnSp>
        <p:nvCxnSpPr>
          <p:cNvPr id="328" name="FLOW_connector"/>
          <p:cNvCxnSpPr/>
          <p:nvPr/>
        </p:nvCxnSpPr>
        <p:spPr>
          <a:xfrm flipV="1">
            <a:off x="2221992" y="4050791"/>
            <a:ext cx="0" cy="393193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FLOW_connector"/>
          <p:cNvCxnSpPr/>
          <p:nvPr/>
        </p:nvCxnSpPr>
        <p:spPr>
          <a:xfrm>
            <a:off x="2221992" y="4050791"/>
            <a:ext cx="1837944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FLOW_connector"/>
          <p:cNvCxnSpPr/>
          <p:nvPr/>
        </p:nvCxnSpPr>
        <p:spPr>
          <a:xfrm flipV="1">
            <a:off x="4059936" y="3822191"/>
            <a:ext cx="0" cy="22860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