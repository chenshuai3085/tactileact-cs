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5172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PANEL_inference"/>
          <p:cNvSpPr/>
          <p:nvPr/>
        </p:nvSpPr>
        <p:spPr>
          <a:xfrm>
            <a:off x="73152" y="2907792"/>
            <a:ext cx="12042648" cy="21945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NEL_offline"/>
          <p:cNvSpPr/>
          <p:nvPr/>
        </p:nvSpPr>
        <p:spPr>
          <a:xfrm>
            <a:off x="9290304" y="384048"/>
            <a:ext cx="2825496" cy="24231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NEL_offline"/>
          <p:cNvSpPr/>
          <p:nvPr/>
        </p:nvSpPr>
        <p:spPr>
          <a:xfrm>
            <a:off x="3547872" y="384048"/>
            <a:ext cx="5650992" cy="24231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NEL_offline"/>
          <p:cNvSpPr/>
          <p:nvPr/>
        </p:nvSpPr>
        <p:spPr>
          <a:xfrm>
            <a:off x="73152" y="384048"/>
            <a:ext cx="3364992" cy="24231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XT_OFFLINE MODEL LEARNING"/>
          <p:cNvSpPr txBox="1"/>
          <p:nvPr/>
        </p:nvSpPr>
        <p:spPr>
          <a:xfrm>
            <a:off x="164592" y="73152"/>
            <a:ext cx="2743200" cy="20116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1080" b="1">
                <a:solidFill>
                  <a:srgbClr val="172B3A"/>
                </a:solidFill>
                <a:latin typeface="Arial"/>
              </a:rPr>
              <a:t>OFFLINE MODEL LEARNING</a:t>
            </a:r>
          </a:p>
        </p:txBody>
      </p:sp>
      <p:cxnSp>
        <p:nvCxnSpPr>
          <p:cNvPr id="7" name="FLOW_connector"/>
          <p:cNvCxnSpPr/>
          <p:nvPr/>
        </p:nvCxnSpPr>
        <p:spPr>
          <a:xfrm>
            <a:off x="3493008" y="402336"/>
            <a:ext cx="0" cy="2450592"/>
          </a:xfrm>
          <a:prstGeom prst="line">
            <a:avLst/>
          </a:prstGeom>
          <a:ln w="8890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_connector"/>
          <p:cNvCxnSpPr/>
          <p:nvPr/>
        </p:nvCxnSpPr>
        <p:spPr>
          <a:xfrm>
            <a:off x="9253728" y="402336"/>
            <a:ext cx="0" cy="2450592"/>
          </a:xfrm>
          <a:prstGeom prst="line">
            <a:avLst/>
          </a:prstGeom>
          <a:ln w="8890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_connector"/>
          <p:cNvCxnSpPr/>
          <p:nvPr/>
        </p:nvCxnSpPr>
        <p:spPr>
          <a:xfrm>
            <a:off x="137160" y="2862072"/>
            <a:ext cx="11914632" cy="0"/>
          </a:xfrm>
          <a:prstGeom prst="line">
            <a:avLst/>
          </a:prstGeom>
          <a:ln w="11430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XT_(a) TacVAE Pretraining"/>
          <p:cNvSpPr txBox="1"/>
          <p:nvPr/>
        </p:nvSpPr>
        <p:spPr>
          <a:xfrm>
            <a:off x="164592" y="429768"/>
            <a:ext cx="3182112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19" b="1">
                <a:solidFill>
                  <a:srgbClr val="172B3A"/>
                </a:solidFill>
                <a:latin typeface="Arial"/>
              </a:rPr>
              <a:t>(a) TacVAE Pretraining</a:t>
            </a:r>
          </a:p>
        </p:txBody>
      </p:sp>
      <p:pic>
        <p:nvPicPr>
          <p:cNvPr id="11" name="IMG_chip_ep01_f0140_left_rdp" descr="chip_ep01_f0140_left_rdp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2880" y="1088136"/>
            <a:ext cx="548640" cy="548640"/>
          </a:xfrm>
          <a:prstGeom prst="rect">
            <a:avLst/>
          </a:prstGeom>
        </p:spPr>
      </p:pic>
      <p:sp>
        <p:nvSpPr>
          <p:cNvPr id="12" name="FRAME_chip_ep01_f0140_left_rdp"/>
          <p:cNvSpPr/>
          <p:nvPr/>
        </p:nvSpPr>
        <p:spPr>
          <a:xfrm>
            <a:off x="182880" y="1088136"/>
            <a:ext cx="548640" cy="548640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IMG_chip_ep01_f0163_left_rdp" descr="chip_ep01_f0163_left_rd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3172" y="1046988"/>
            <a:ext cx="548640" cy="548640"/>
          </a:xfrm>
          <a:prstGeom prst="rect">
            <a:avLst/>
          </a:prstGeom>
        </p:spPr>
      </p:pic>
      <p:sp>
        <p:nvSpPr>
          <p:cNvPr id="14" name="FRAME_chip_ep01_f0163_left_rdp"/>
          <p:cNvSpPr/>
          <p:nvPr/>
        </p:nvSpPr>
        <p:spPr>
          <a:xfrm>
            <a:off x="233172" y="1046988"/>
            <a:ext cx="548640" cy="548640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G_chip_ep01_f0187_left_rdp" descr="chip_ep01_f0187_left_rd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83464" y="1005839"/>
            <a:ext cx="548640" cy="548640"/>
          </a:xfrm>
          <a:prstGeom prst="rect">
            <a:avLst/>
          </a:prstGeom>
        </p:spPr>
      </p:pic>
      <p:sp>
        <p:nvSpPr>
          <p:cNvPr id="16" name="FRAME_chip_ep01_f0187_left_rdp"/>
          <p:cNvSpPr/>
          <p:nvPr/>
        </p:nvSpPr>
        <p:spPr>
          <a:xfrm>
            <a:off x="283464" y="1005839"/>
            <a:ext cx="548640" cy="548640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XT_Marker history"/>
          <p:cNvSpPr txBox="1"/>
          <p:nvPr/>
        </p:nvSpPr>
        <p:spPr>
          <a:xfrm>
            <a:off x="137160" y="1673352"/>
            <a:ext cx="749808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30" b="0">
                <a:solidFill>
                  <a:srgbClr val="657487"/>
                </a:solidFill>
                <a:latin typeface="Arial"/>
              </a:rPr>
              <a:t>Marker history</a:t>
            </a:r>
          </a:p>
        </p:txBody>
      </p:sp>
      <p:cxnSp>
        <p:nvCxnSpPr>
          <p:cNvPr id="18" name="FLOW_connector"/>
          <p:cNvCxnSpPr/>
          <p:nvPr/>
        </p:nvCxnSpPr>
        <p:spPr>
          <a:xfrm>
            <a:off x="786384" y="1344168"/>
            <a:ext cx="146304" cy="0"/>
          </a:xfrm>
          <a:prstGeom prst="line">
            <a:avLst/>
          </a:prstGeom>
          <a:ln w="1524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OX_Tactile_Encoder"/>
          <p:cNvSpPr/>
          <p:nvPr/>
        </p:nvSpPr>
        <p:spPr>
          <a:xfrm>
            <a:off x="932688" y="1097280"/>
            <a:ext cx="475488" cy="493776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50" b="1">
                <a:solidFill>
                  <a:srgbClr val="172B3A"/>
                </a:solidFill>
                <a:latin typeface="Arial"/>
              </a:rPr>
              <a:t>Tactile
Encoder</a:t>
            </a:r>
          </a:p>
        </p:txBody>
      </p:sp>
      <p:cxnSp>
        <p:nvCxnSpPr>
          <p:cNvPr id="20" name="FLOW_connector"/>
          <p:cNvCxnSpPr/>
          <p:nvPr/>
        </p:nvCxnSpPr>
        <p:spPr>
          <a:xfrm flipV="1">
            <a:off x="1330634" y="1028882"/>
            <a:ext cx="0" cy="36211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_connector"/>
          <p:cNvCxnSpPr/>
          <p:nvPr/>
        </p:nvCxnSpPr>
        <p:spPr>
          <a:xfrm>
            <a:off x="1330634" y="1028882"/>
            <a:ext cx="39502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_connector"/>
          <p:cNvCxnSpPr/>
          <p:nvPr/>
        </p:nvCxnSpPr>
        <p:spPr>
          <a:xfrm>
            <a:off x="1370136" y="1028882"/>
            <a:ext cx="0" cy="36211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BOX_module"/>
          <p:cNvSpPr/>
          <p:nvPr/>
        </p:nvSpPr>
        <p:spPr>
          <a:xfrm>
            <a:off x="1307592" y="1058509"/>
            <a:ext cx="85587" cy="72420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FLOW_connector"/>
          <p:cNvCxnSpPr/>
          <p:nvPr/>
        </p:nvCxnSpPr>
        <p:spPr>
          <a:xfrm>
            <a:off x="1408176" y="1344168"/>
            <a:ext cx="109728" cy="0"/>
          </a:xfrm>
          <a:prstGeom prst="line">
            <a:avLst/>
          </a:prstGeom>
          <a:ln w="1397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OX_mu"/>
          <p:cNvSpPr/>
          <p:nvPr/>
        </p:nvSpPr>
        <p:spPr>
          <a:xfrm>
            <a:off x="1517904" y="1051560"/>
            <a:ext cx="356616" cy="228600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80" b="1">
                <a:solidFill>
                  <a:srgbClr val="172B3A"/>
                </a:solidFill>
                <a:latin typeface="Arial"/>
              </a:rPr>
              <a:t>mu</a:t>
            </a:r>
          </a:p>
        </p:txBody>
      </p:sp>
      <p:sp>
        <p:nvSpPr>
          <p:cNvPr id="26" name="BOX_log var"/>
          <p:cNvSpPr/>
          <p:nvPr/>
        </p:nvSpPr>
        <p:spPr>
          <a:xfrm>
            <a:off x="1517904" y="1389888"/>
            <a:ext cx="356616" cy="228600"/>
          </a:xfrm>
          <a:prstGeom prst="roundRect">
            <a:avLst/>
          </a:prstGeom>
          <a:solidFill>
            <a:srgbClr val="FCE8D6"/>
          </a:solidFill>
          <a:ln w="11430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580" b="1">
                <a:solidFill>
                  <a:srgbClr val="172B3A"/>
                </a:solidFill>
                <a:latin typeface="Arial"/>
              </a:rPr>
              <a:t>log var</a:t>
            </a:r>
          </a:p>
        </p:txBody>
      </p:sp>
      <p:cxnSp>
        <p:nvCxnSpPr>
          <p:cNvPr id="27" name="FLOW_connector"/>
          <p:cNvCxnSpPr/>
          <p:nvPr/>
        </p:nvCxnSpPr>
        <p:spPr>
          <a:xfrm>
            <a:off x="1874519" y="1161288"/>
            <a:ext cx="100585" cy="155448"/>
          </a:xfrm>
          <a:prstGeom prst="line">
            <a:avLst/>
          </a:prstGeom>
          <a:ln w="1143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_connector"/>
          <p:cNvCxnSpPr/>
          <p:nvPr/>
        </p:nvCxnSpPr>
        <p:spPr>
          <a:xfrm flipV="1">
            <a:off x="1874519" y="1353312"/>
            <a:ext cx="100585" cy="146304"/>
          </a:xfrm>
          <a:prstGeom prst="line">
            <a:avLst/>
          </a:prstGeom>
          <a:ln w="1143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BOX_~"/>
          <p:cNvSpPr/>
          <p:nvPr/>
        </p:nvSpPr>
        <p:spPr>
          <a:xfrm>
            <a:off x="1956816" y="1243584"/>
            <a:ext cx="164592" cy="1645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50" b="1">
                <a:solidFill>
                  <a:srgbClr val="172B3A"/>
                </a:solidFill>
                <a:latin typeface="Arial"/>
              </a:rPr>
              <a:t>~</a:t>
            </a:r>
          </a:p>
        </p:txBody>
      </p:sp>
      <p:cxnSp>
        <p:nvCxnSpPr>
          <p:cNvPr id="30" name="FLOW_connector"/>
          <p:cNvCxnSpPr/>
          <p:nvPr/>
        </p:nvCxnSpPr>
        <p:spPr>
          <a:xfrm>
            <a:off x="2121408" y="1335024"/>
            <a:ext cx="100584" cy="0"/>
          </a:xfrm>
          <a:prstGeom prst="line">
            <a:avLst/>
          </a:prstGeom>
          <a:ln w="1270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BOX_module"/>
          <p:cNvSpPr/>
          <p:nvPr/>
        </p:nvSpPr>
        <p:spPr>
          <a:xfrm>
            <a:off x="2221992" y="122529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X_module"/>
          <p:cNvSpPr/>
          <p:nvPr/>
        </p:nvSpPr>
        <p:spPr>
          <a:xfrm>
            <a:off x="2296972" y="122529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OX_module"/>
          <p:cNvSpPr/>
          <p:nvPr/>
        </p:nvSpPr>
        <p:spPr>
          <a:xfrm>
            <a:off x="2371953" y="122529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OX_module"/>
          <p:cNvSpPr/>
          <p:nvPr/>
        </p:nvSpPr>
        <p:spPr>
          <a:xfrm>
            <a:off x="2221992" y="130027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OX_module"/>
          <p:cNvSpPr/>
          <p:nvPr/>
        </p:nvSpPr>
        <p:spPr>
          <a:xfrm>
            <a:off x="2296972" y="130027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OX_module"/>
          <p:cNvSpPr/>
          <p:nvPr/>
        </p:nvSpPr>
        <p:spPr>
          <a:xfrm>
            <a:off x="2371953" y="130027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OX_module"/>
          <p:cNvSpPr/>
          <p:nvPr/>
        </p:nvSpPr>
        <p:spPr>
          <a:xfrm>
            <a:off x="2221992" y="1375257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OX_module"/>
          <p:cNvSpPr/>
          <p:nvPr/>
        </p:nvSpPr>
        <p:spPr>
          <a:xfrm>
            <a:off x="2296972" y="1375257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OX_module"/>
          <p:cNvSpPr/>
          <p:nvPr/>
        </p:nvSpPr>
        <p:spPr>
          <a:xfrm>
            <a:off x="2371953" y="1375257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XT_Spatial latent"/>
          <p:cNvSpPr txBox="1"/>
          <p:nvPr/>
        </p:nvSpPr>
        <p:spPr>
          <a:xfrm>
            <a:off x="2139696" y="1481328"/>
            <a:ext cx="438912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90" b="0">
                <a:solidFill>
                  <a:srgbClr val="657487"/>
                </a:solidFill>
                <a:latin typeface="Arial"/>
              </a:rPr>
              <a:t>Spatial latent</a:t>
            </a:r>
          </a:p>
        </p:txBody>
      </p:sp>
      <p:cxnSp>
        <p:nvCxnSpPr>
          <p:cNvPr id="41" name="FLOW_connector"/>
          <p:cNvCxnSpPr/>
          <p:nvPr/>
        </p:nvCxnSpPr>
        <p:spPr>
          <a:xfrm>
            <a:off x="2450592" y="1335024"/>
            <a:ext cx="91440" cy="0"/>
          </a:xfrm>
          <a:prstGeom prst="line">
            <a:avLst/>
          </a:prstGeom>
          <a:ln w="1270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BOX_Marker_Decoder"/>
          <p:cNvSpPr/>
          <p:nvPr/>
        </p:nvSpPr>
        <p:spPr>
          <a:xfrm>
            <a:off x="2542032" y="1097280"/>
            <a:ext cx="438912" cy="493776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20" b="1">
                <a:solidFill>
                  <a:srgbClr val="172B3A"/>
                </a:solidFill>
                <a:latin typeface="Arial"/>
              </a:rPr>
              <a:t>Marker
Decoder</a:t>
            </a:r>
          </a:p>
        </p:txBody>
      </p:sp>
      <p:cxnSp>
        <p:nvCxnSpPr>
          <p:cNvPr id="43" name="FLOW_connector"/>
          <p:cNvCxnSpPr/>
          <p:nvPr/>
        </p:nvCxnSpPr>
        <p:spPr>
          <a:xfrm>
            <a:off x="2980944" y="1344168"/>
            <a:ext cx="91440" cy="0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IMG_tacvae_real_reconstructi" descr="tacvae_real_reconstruction.png"/>
          <p:cNvPicPr>
            <a:picLocks noChangeAspect="1"/>
          </p:cNvPicPr>
          <p:nvPr/>
        </p:nvPicPr>
        <p:blipFill>
          <a:blip r:embed="rId5"/>
          <a:srcRect l="17035" r="17035"/>
          <a:stretch>
            <a:fillRect/>
          </a:stretch>
        </p:blipFill>
        <p:spPr>
          <a:xfrm>
            <a:off x="3072384" y="1097280"/>
            <a:ext cx="347472" cy="493776"/>
          </a:xfrm>
          <a:prstGeom prst="rect">
            <a:avLst/>
          </a:prstGeom>
        </p:spPr>
      </p:pic>
      <p:sp>
        <p:nvSpPr>
          <p:cNvPr id="45" name="FRAME_tacvae_real_reconstructi"/>
          <p:cNvSpPr/>
          <p:nvPr/>
        </p:nvSpPr>
        <p:spPr>
          <a:xfrm>
            <a:off x="3072384" y="1097280"/>
            <a:ext cx="347472" cy="493776"/>
          </a:xfrm>
          <a:prstGeom prst="rect">
            <a:avLst/>
          </a:prstGeom>
          <a:noFill/>
          <a:ln w="635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XT_Recon."/>
          <p:cNvSpPr txBox="1"/>
          <p:nvPr/>
        </p:nvSpPr>
        <p:spPr>
          <a:xfrm>
            <a:off x="3017520" y="1627632"/>
            <a:ext cx="438912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Recon.</a:t>
            </a:r>
          </a:p>
        </p:txBody>
      </p:sp>
      <p:cxnSp>
        <p:nvCxnSpPr>
          <p:cNvPr id="47" name="FLOW_connector"/>
          <p:cNvCxnSpPr/>
          <p:nvPr/>
        </p:nvCxnSpPr>
        <p:spPr>
          <a:xfrm flipV="1">
            <a:off x="1700784" y="832104"/>
            <a:ext cx="0" cy="219456"/>
          </a:xfrm>
          <a:prstGeom prst="line">
            <a:avLst/>
          </a:prstGeom>
          <a:ln w="12700">
            <a:solidFill>
              <a:srgbClr val="2D9F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FLOW_connector"/>
          <p:cNvCxnSpPr/>
          <p:nvPr/>
        </p:nvCxnSpPr>
        <p:spPr>
          <a:xfrm>
            <a:off x="1700784" y="832104"/>
            <a:ext cx="292608" cy="0"/>
          </a:xfrm>
          <a:prstGeom prst="line">
            <a:avLst/>
          </a:prstGeom>
          <a:ln w="12700">
            <a:solidFill>
              <a:srgbClr val="2D9FA3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BOX_module"/>
          <p:cNvSpPr/>
          <p:nvPr/>
        </p:nvSpPr>
        <p:spPr>
          <a:xfrm>
            <a:off x="2002536" y="768096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OX_module"/>
          <p:cNvSpPr/>
          <p:nvPr/>
        </p:nvSpPr>
        <p:spPr>
          <a:xfrm>
            <a:off x="2050084" y="768096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OX_module"/>
          <p:cNvSpPr/>
          <p:nvPr/>
        </p:nvSpPr>
        <p:spPr>
          <a:xfrm>
            <a:off x="2097633" y="768096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OX_module"/>
          <p:cNvSpPr/>
          <p:nvPr/>
        </p:nvSpPr>
        <p:spPr>
          <a:xfrm>
            <a:off x="2002536" y="815644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OX_module"/>
          <p:cNvSpPr/>
          <p:nvPr/>
        </p:nvSpPr>
        <p:spPr>
          <a:xfrm>
            <a:off x="2050084" y="815644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OX_module"/>
          <p:cNvSpPr/>
          <p:nvPr/>
        </p:nvSpPr>
        <p:spPr>
          <a:xfrm>
            <a:off x="2097633" y="815644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BOX_module"/>
          <p:cNvSpPr/>
          <p:nvPr/>
        </p:nvSpPr>
        <p:spPr>
          <a:xfrm>
            <a:off x="2002536" y="863193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OX_module"/>
          <p:cNvSpPr/>
          <p:nvPr/>
        </p:nvSpPr>
        <p:spPr>
          <a:xfrm>
            <a:off x="2050084" y="863193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OX_module"/>
          <p:cNvSpPr/>
          <p:nvPr/>
        </p:nvSpPr>
        <p:spPr>
          <a:xfrm>
            <a:off x="2097633" y="863193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XT_Deployment z_t"/>
          <p:cNvSpPr txBox="1"/>
          <p:nvPr/>
        </p:nvSpPr>
        <p:spPr>
          <a:xfrm>
            <a:off x="2176272" y="768096"/>
            <a:ext cx="73152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10" b="1">
                <a:solidFill>
                  <a:srgbClr val="197B82"/>
                </a:solidFill>
                <a:latin typeface="Arial"/>
              </a:rPr>
              <a:t>Deployment z_t</a:t>
            </a:r>
          </a:p>
        </p:txBody>
      </p:sp>
      <p:sp>
        <p:nvSpPr>
          <p:cNvPr id="59" name="TXT_(b) Action-Conditioned T"/>
          <p:cNvSpPr txBox="1"/>
          <p:nvPr/>
        </p:nvSpPr>
        <p:spPr>
          <a:xfrm>
            <a:off x="3575304" y="429768"/>
            <a:ext cx="5623560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19" b="1">
                <a:solidFill>
                  <a:srgbClr val="172B3A"/>
                </a:solidFill>
                <a:latin typeface="Arial"/>
              </a:rPr>
              <a:t>(b) Action-Conditioned Tactile Foresight</a:t>
            </a:r>
          </a:p>
        </p:txBody>
      </p:sp>
      <p:pic>
        <p:nvPicPr>
          <p:cNvPr id="60" name="IMG_chip_ep01_f0160_global" descr="chip_ep01_f0160_global.png"/>
          <p:cNvPicPr>
            <a:picLocks noChangeAspect="1"/>
          </p:cNvPicPr>
          <p:nvPr/>
        </p:nvPicPr>
        <p:blipFill>
          <a:blip r:embed="rId6"/>
          <a:srcRect t="3879" b="3879"/>
          <a:stretch>
            <a:fillRect/>
          </a:stretch>
        </p:blipFill>
        <p:spPr>
          <a:xfrm>
            <a:off x="3657600" y="804672"/>
            <a:ext cx="566928" cy="393192"/>
          </a:xfrm>
          <a:prstGeom prst="rect">
            <a:avLst/>
          </a:prstGeom>
        </p:spPr>
      </p:pic>
      <p:sp>
        <p:nvSpPr>
          <p:cNvPr id="61" name="FRAME_chip_ep01_f0160_global"/>
          <p:cNvSpPr/>
          <p:nvPr/>
        </p:nvSpPr>
        <p:spPr>
          <a:xfrm>
            <a:off x="3657600" y="804672"/>
            <a:ext cx="566928" cy="393192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IMG_chip_ep01_f0160_wrist" descr="chip_ep01_f0160_wrist.png"/>
          <p:cNvPicPr>
            <a:picLocks noChangeAspect="1"/>
          </p:cNvPicPr>
          <p:nvPr/>
        </p:nvPicPr>
        <p:blipFill>
          <a:blip r:embed="rId7"/>
          <a:srcRect t="3879" b="3879"/>
          <a:stretch>
            <a:fillRect/>
          </a:stretch>
        </p:blipFill>
        <p:spPr>
          <a:xfrm>
            <a:off x="3657600" y="1234440"/>
            <a:ext cx="566928" cy="393192"/>
          </a:xfrm>
          <a:prstGeom prst="rect">
            <a:avLst/>
          </a:prstGeom>
        </p:spPr>
      </p:pic>
      <p:sp>
        <p:nvSpPr>
          <p:cNvPr id="63" name="FRAME_chip_ep01_f0160_wrist"/>
          <p:cNvSpPr/>
          <p:nvPr/>
        </p:nvSpPr>
        <p:spPr>
          <a:xfrm>
            <a:off x="3657600" y="1234440"/>
            <a:ext cx="566928" cy="393192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XT_Global"/>
          <p:cNvSpPr txBox="1"/>
          <p:nvPr/>
        </p:nvSpPr>
        <p:spPr>
          <a:xfrm>
            <a:off x="3675887" y="658368"/>
            <a:ext cx="256032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Global</a:t>
            </a:r>
          </a:p>
        </p:txBody>
      </p:sp>
      <p:sp>
        <p:nvSpPr>
          <p:cNvPr id="65" name="TXT_Wrist"/>
          <p:cNvSpPr txBox="1"/>
          <p:nvPr/>
        </p:nvSpPr>
        <p:spPr>
          <a:xfrm>
            <a:off x="3959352" y="658368"/>
            <a:ext cx="256032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Wrist</a:t>
            </a:r>
          </a:p>
        </p:txBody>
      </p:sp>
      <p:sp>
        <p:nvSpPr>
          <p:cNvPr id="66" name="BOX_Visual_Encoder"/>
          <p:cNvSpPr/>
          <p:nvPr/>
        </p:nvSpPr>
        <p:spPr>
          <a:xfrm>
            <a:off x="4315968" y="932688"/>
            <a:ext cx="548640" cy="502920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80" b="1">
                <a:solidFill>
                  <a:srgbClr val="172B3A"/>
                </a:solidFill>
                <a:latin typeface="Arial"/>
              </a:rPr>
              <a:t>Visual
Encoder</a:t>
            </a:r>
          </a:p>
        </p:txBody>
      </p:sp>
      <p:cxnSp>
        <p:nvCxnSpPr>
          <p:cNvPr id="67" name="FLOW_connector"/>
          <p:cNvCxnSpPr/>
          <p:nvPr/>
        </p:nvCxnSpPr>
        <p:spPr>
          <a:xfrm flipV="1">
            <a:off x="4778883" y="865251"/>
            <a:ext cx="0" cy="37719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FLOW_connector"/>
          <p:cNvCxnSpPr/>
          <p:nvPr/>
        </p:nvCxnSpPr>
        <p:spPr>
          <a:xfrm>
            <a:off x="4778883" y="865251"/>
            <a:ext cx="41148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FLOW_connector"/>
          <p:cNvCxnSpPr/>
          <p:nvPr/>
        </p:nvCxnSpPr>
        <p:spPr>
          <a:xfrm>
            <a:off x="4820031" y="865251"/>
            <a:ext cx="0" cy="37719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BOX_module"/>
          <p:cNvSpPr/>
          <p:nvPr/>
        </p:nvSpPr>
        <p:spPr>
          <a:xfrm>
            <a:off x="4754880" y="896112"/>
            <a:ext cx="89154" cy="7543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FLOW_connector"/>
          <p:cNvCxnSpPr/>
          <p:nvPr/>
        </p:nvCxnSpPr>
        <p:spPr>
          <a:xfrm flipV="1">
            <a:off x="4224528" y="1188720"/>
            <a:ext cx="91440" cy="27432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BOX_module"/>
          <p:cNvSpPr/>
          <p:nvPr/>
        </p:nvSpPr>
        <p:spPr>
          <a:xfrm>
            <a:off x="4937760" y="112471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BOX_module"/>
          <p:cNvSpPr/>
          <p:nvPr/>
        </p:nvSpPr>
        <p:spPr>
          <a:xfrm>
            <a:off x="5061204" y="112471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BOX_module"/>
          <p:cNvSpPr/>
          <p:nvPr/>
        </p:nvSpPr>
        <p:spPr>
          <a:xfrm>
            <a:off x="5184648" y="112471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IMG_chip_ep01_f0163_left_rdp" descr="chip_ep01_f0163_left_rd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75887" y="1764792"/>
            <a:ext cx="566928" cy="566928"/>
          </a:xfrm>
          <a:prstGeom prst="rect">
            <a:avLst/>
          </a:prstGeom>
        </p:spPr>
      </p:pic>
      <p:sp>
        <p:nvSpPr>
          <p:cNvPr id="76" name="FRAME_chip_ep01_f0163_left_rdp"/>
          <p:cNvSpPr/>
          <p:nvPr/>
        </p:nvSpPr>
        <p:spPr>
          <a:xfrm>
            <a:off x="3675887" y="1764792"/>
            <a:ext cx="566928" cy="566928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XT_Touch"/>
          <p:cNvSpPr txBox="1"/>
          <p:nvPr/>
        </p:nvSpPr>
        <p:spPr>
          <a:xfrm>
            <a:off x="3730752" y="2340864"/>
            <a:ext cx="457200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Touch</a:t>
            </a:r>
          </a:p>
        </p:txBody>
      </p:sp>
      <p:sp>
        <p:nvSpPr>
          <p:cNvPr id="78" name="BOX_TacVAE"/>
          <p:cNvSpPr/>
          <p:nvPr/>
        </p:nvSpPr>
        <p:spPr>
          <a:xfrm>
            <a:off x="4315968" y="1810512"/>
            <a:ext cx="548640" cy="438912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20" b="1">
                <a:solidFill>
                  <a:srgbClr val="172B3A"/>
                </a:solidFill>
                <a:latin typeface="Arial"/>
              </a:rPr>
              <a:t>TacVAE</a:t>
            </a:r>
          </a:p>
        </p:txBody>
      </p:sp>
      <p:cxnSp>
        <p:nvCxnSpPr>
          <p:cNvPr id="79" name="FLOW_connector"/>
          <p:cNvCxnSpPr/>
          <p:nvPr/>
        </p:nvCxnSpPr>
        <p:spPr>
          <a:xfrm flipV="1">
            <a:off x="4778883" y="1743075"/>
            <a:ext cx="0" cy="37718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FLOW_connector"/>
          <p:cNvCxnSpPr/>
          <p:nvPr/>
        </p:nvCxnSpPr>
        <p:spPr>
          <a:xfrm>
            <a:off x="4778883" y="1743075"/>
            <a:ext cx="41148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FLOW_connector"/>
          <p:cNvCxnSpPr/>
          <p:nvPr/>
        </p:nvCxnSpPr>
        <p:spPr>
          <a:xfrm>
            <a:off x="4820031" y="1743075"/>
            <a:ext cx="0" cy="37718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BOX_module"/>
          <p:cNvSpPr/>
          <p:nvPr/>
        </p:nvSpPr>
        <p:spPr>
          <a:xfrm>
            <a:off x="4754880" y="1773936"/>
            <a:ext cx="89154" cy="7543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FLOW_connector"/>
          <p:cNvCxnSpPr/>
          <p:nvPr/>
        </p:nvCxnSpPr>
        <p:spPr>
          <a:xfrm>
            <a:off x="4242816" y="2029968"/>
            <a:ext cx="73152" cy="0"/>
          </a:xfrm>
          <a:prstGeom prst="line">
            <a:avLst/>
          </a:prstGeom>
          <a:ln w="1270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BOX_module"/>
          <p:cNvSpPr/>
          <p:nvPr/>
        </p:nvSpPr>
        <p:spPr>
          <a:xfrm>
            <a:off x="4956048" y="191109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OX_module"/>
          <p:cNvSpPr/>
          <p:nvPr/>
        </p:nvSpPr>
        <p:spPr>
          <a:xfrm>
            <a:off x="5024628" y="191109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BOX_module"/>
          <p:cNvSpPr/>
          <p:nvPr/>
        </p:nvSpPr>
        <p:spPr>
          <a:xfrm>
            <a:off x="5093208" y="191109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BOX_module"/>
          <p:cNvSpPr/>
          <p:nvPr/>
        </p:nvSpPr>
        <p:spPr>
          <a:xfrm>
            <a:off x="4956048" y="1979676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BOX_module"/>
          <p:cNvSpPr/>
          <p:nvPr/>
        </p:nvSpPr>
        <p:spPr>
          <a:xfrm>
            <a:off x="5024628" y="1979676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BOX_module"/>
          <p:cNvSpPr/>
          <p:nvPr/>
        </p:nvSpPr>
        <p:spPr>
          <a:xfrm>
            <a:off x="5093208" y="1979676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BOX_module"/>
          <p:cNvSpPr/>
          <p:nvPr/>
        </p:nvSpPr>
        <p:spPr>
          <a:xfrm>
            <a:off x="4956048" y="204825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BOX_module"/>
          <p:cNvSpPr/>
          <p:nvPr/>
        </p:nvSpPr>
        <p:spPr>
          <a:xfrm>
            <a:off x="5024628" y="204825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BOX_module"/>
          <p:cNvSpPr/>
          <p:nvPr/>
        </p:nvSpPr>
        <p:spPr>
          <a:xfrm>
            <a:off x="5093208" y="204825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BOX_module"/>
          <p:cNvSpPr/>
          <p:nvPr/>
        </p:nvSpPr>
        <p:spPr>
          <a:xfrm>
            <a:off x="3730752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BOX_module"/>
          <p:cNvSpPr/>
          <p:nvPr/>
        </p:nvSpPr>
        <p:spPr>
          <a:xfrm>
            <a:off x="3835908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BOX_module"/>
          <p:cNvSpPr/>
          <p:nvPr/>
        </p:nvSpPr>
        <p:spPr>
          <a:xfrm>
            <a:off x="3941064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BOX_module"/>
          <p:cNvSpPr/>
          <p:nvPr/>
        </p:nvSpPr>
        <p:spPr>
          <a:xfrm>
            <a:off x="4046220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XT_Robot state"/>
          <p:cNvSpPr txBox="1"/>
          <p:nvPr/>
        </p:nvSpPr>
        <p:spPr>
          <a:xfrm>
            <a:off x="3657600" y="2697480"/>
            <a:ext cx="530352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Robot state</a:t>
            </a:r>
          </a:p>
        </p:txBody>
      </p:sp>
      <p:sp>
        <p:nvSpPr>
          <p:cNvPr id="98" name="BOX_Projection"/>
          <p:cNvSpPr/>
          <p:nvPr/>
        </p:nvSpPr>
        <p:spPr>
          <a:xfrm>
            <a:off x="4315968" y="2532888"/>
            <a:ext cx="548640" cy="310896"/>
          </a:xfrm>
          <a:prstGeom prst="roundRect">
            <a:avLst/>
          </a:prstGeom>
          <a:solidFill>
            <a:srgbClr val="EEF1F4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20" b="1">
                <a:solidFill>
                  <a:srgbClr val="172B3A"/>
                </a:solidFill>
                <a:latin typeface="Arial"/>
              </a:rPr>
              <a:t>Projection</a:t>
            </a:r>
          </a:p>
        </p:txBody>
      </p:sp>
      <p:cxnSp>
        <p:nvCxnSpPr>
          <p:cNvPr id="99" name="FLOW_connector"/>
          <p:cNvCxnSpPr/>
          <p:nvPr/>
        </p:nvCxnSpPr>
        <p:spPr>
          <a:xfrm>
            <a:off x="4160520" y="2633472"/>
            <a:ext cx="155448" cy="54864"/>
          </a:xfrm>
          <a:prstGeom prst="line">
            <a:avLst/>
          </a:prstGeom>
          <a:ln w="1143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BOX_module"/>
          <p:cNvSpPr/>
          <p:nvPr/>
        </p:nvSpPr>
        <p:spPr>
          <a:xfrm>
            <a:off x="5001768" y="2624328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FLOW_connector"/>
          <p:cNvCxnSpPr/>
          <p:nvPr/>
        </p:nvCxnSpPr>
        <p:spPr>
          <a:xfrm>
            <a:off x="5303520" y="1179576"/>
            <a:ext cx="109728" cy="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FLOW_connector"/>
          <p:cNvCxnSpPr/>
          <p:nvPr/>
        </p:nvCxnSpPr>
        <p:spPr>
          <a:xfrm>
            <a:off x="5413248" y="1179576"/>
            <a:ext cx="0" cy="1453896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FLOW_connector"/>
          <p:cNvCxnSpPr/>
          <p:nvPr/>
        </p:nvCxnSpPr>
        <p:spPr>
          <a:xfrm flipH="1">
            <a:off x="5303520" y="2633472"/>
            <a:ext cx="109728" cy="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XT_Obs._context"/>
          <p:cNvSpPr txBox="1"/>
          <p:nvPr/>
        </p:nvSpPr>
        <p:spPr>
          <a:xfrm>
            <a:off x="5321808" y="1737360"/>
            <a:ext cx="411480" cy="3840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00" b="1">
                <a:solidFill>
                  <a:srgbClr val="35689F"/>
                </a:solidFill>
                <a:latin typeface="Arial"/>
              </a:rPr>
              <a:t>Obs.
context</a:t>
            </a:r>
          </a:p>
        </p:txBody>
      </p:sp>
      <p:cxnSp>
        <p:nvCxnSpPr>
          <p:cNvPr id="105" name="FLOW_connector"/>
          <p:cNvCxnSpPr/>
          <p:nvPr/>
        </p:nvCxnSpPr>
        <p:spPr>
          <a:xfrm>
            <a:off x="5413248" y="1901952"/>
            <a:ext cx="301752" cy="0"/>
          </a:xfrm>
          <a:prstGeom prst="line">
            <a:avLst/>
          </a:prstGeom>
          <a:ln w="1651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BOX_Foresight_Transformer"/>
          <p:cNvSpPr/>
          <p:nvPr/>
        </p:nvSpPr>
        <p:spPr>
          <a:xfrm>
            <a:off x="5715000" y="1307592"/>
            <a:ext cx="1353312" cy="1143000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900" b="1">
                <a:solidFill>
                  <a:srgbClr val="172B3A"/>
                </a:solidFill>
                <a:latin typeface="Arial"/>
              </a:rPr>
              <a:t>Foresight
Transformer</a:t>
            </a:r>
          </a:p>
        </p:txBody>
      </p:sp>
      <p:sp>
        <p:nvSpPr>
          <p:cNvPr id="107" name="BOX_Action cross-attention"/>
          <p:cNvSpPr/>
          <p:nvPr/>
        </p:nvSpPr>
        <p:spPr>
          <a:xfrm>
            <a:off x="5769864" y="2157984"/>
            <a:ext cx="1243584" cy="228600"/>
          </a:xfrm>
          <a:prstGeom prst="roundRect">
            <a:avLst/>
          </a:prstGeom>
          <a:solidFill>
            <a:srgbClr val="FCE8D6"/>
          </a:solidFill>
          <a:ln w="11430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580" b="1">
                <a:solidFill>
                  <a:srgbClr val="172B3A"/>
                </a:solidFill>
                <a:latin typeface="Arial"/>
              </a:rPr>
              <a:t>Action cross-attention</a:t>
            </a:r>
          </a:p>
        </p:txBody>
      </p:sp>
      <p:sp>
        <p:nvSpPr>
          <p:cNvPr id="108" name="TXT_Future queries"/>
          <p:cNvSpPr txBox="1"/>
          <p:nvPr/>
        </p:nvSpPr>
        <p:spPr>
          <a:xfrm>
            <a:off x="5870448" y="722376"/>
            <a:ext cx="1005840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40" b="1">
                <a:solidFill>
                  <a:srgbClr val="657487"/>
                </a:solidFill>
                <a:latin typeface="Arial"/>
              </a:rPr>
              <a:t>Future queries</a:t>
            </a:r>
          </a:p>
        </p:txBody>
      </p:sp>
      <p:sp>
        <p:nvSpPr>
          <p:cNvPr id="109" name="BOX_module"/>
          <p:cNvSpPr/>
          <p:nvPr/>
        </p:nvSpPr>
        <p:spPr>
          <a:xfrm>
            <a:off x="5925312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BOX_module"/>
          <p:cNvSpPr/>
          <p:nvPr/>
        </p:nvSpPr>
        <p:spPr>
          <a:xfrm>
            <a:off x="6062472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BOX_module"/>
          <p:cNvSpPr/>
          <p:nvPr/>
        </p:nvSpPr>
        <p:spPr>
          <a:xfrm>
            <a:off x="6199632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XT_..."/>
          <p:cNvSpPr txBox="1"/>
          <p:nvPr/>
        </p:nvSpPr>
        <p:spPr>
          <a:xfrm>
            <a:off x="6318504" y="905256"/>
            <a:ext cx="182880" cy="10972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700" b="1">
                <a:solidFill>
                  <a:srgbClr val="8E9AA8"/>
                </a:solidFill>
                <a:latin typeface="Arial"/>
              </a:rPr>
              <a:t>...</a:t>
            </a:r>
          </a:p>
        </p:txBody>
      </p:sp>
      <p:sp>
        <p:nvSpPr>
          <p:cNvPr id="113" name="BOX_module"/>
          <p:cNvSpPr/>
          <p:nvPr/>
        </p:nvSpPr>
        <p:spPr>
          <a:xfrm>
            <a:off x="6510528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BOX_module"/>
          <p:cNvSpPr/>
          <p:nvPr/>
        </p:nvSpPr>
        <p:spPr>
          <a:xfrm>
            <a:off x="6647688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FLOW_connector"/>
          <p:cNvCxnSpPr/>
          <p:nvPr/>
        </p:nvCxnSpPr>
        <p:spPr>
          <a:xfrm>
            <a:off x="5975604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FLOW_connector"/>
          <p:cNvCxnSpPr/>
          <p:nvPr/>
        </p:nvCxnSpPr>
        <p:spPr>
          <a:xfrm>
            <a:off x="6112764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FLOW_connector"/>
          <p:cNvCxnSpPr/>
          <p:nvPr/>
        </p:nvCxnSpPr>
        <p:spPr>
          <a:xfrm>
            <a:off x="6249924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FLOW_connector"/>
          <p:cNvCxnSpPr/>
          <p:nvPr/>
        </p:nvCxnSpPr>
        <p:spPr>
          <a:xfrm>
            <a:off x="6560820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FLOW_connector"/>
          <p:cNvCxnSpPr/>
          <p:nvPr/>
        </p:nvCxnSpPr>
        <p:spPr>
          <a:xfrm>
            <a:off x="6697980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XT_Actions"/>
          <p:cNvSpPr txBox="1"/>
          <p:nvPr/>
        </p:nvSpPr>
        <p:spPr>
          <a:xfrm>
            <a:off x="5340096" y="2468880"/>
            <a:ext cx="438912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10" b="1">
                <a:solidFill>
                  <a:srgbClr val="B96425"/>
                </a:solidFill>
                <a:latin typeface="Arial"/>
              </a:rPr>
              <a:t>Actions</a:t>
            </a:r>
          </a:p>
        </p:txBody>
      </p:sp>
      <p:cxnSp>
        <p:nvCxnSpPr>
          <p:cNvPr id="121" name="FLOW_connector"/>
          <p:cNvCxnSpPr/>
          <p:nvPr/>
        </p:nvCxnSpPr>
        <p:spPr>
          <a:xfrm flipV="1">
            <a:off x="5468112" y="2615184"/>
            <a:ext cx="118872" cy="91440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FLOW_connector"/>
          <p:cNvCxnSpPr/>
          <p:nvPr/>
        </p:nvCxnSpPr>
        <p:spPr>
          <a:xfrm>
            <a:off x="5586984" y="2615184"/>
            <a:ext cx="118872" cy="82296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FLOW_connector"/>
          <p:cNvCxnSpPr/>
          <p:nvPr/>
        </p:nvCxnSpPr>
        <p:spPr>
          <a:xfrm flipV="1">
            <a:off x="5468112" y="2651760"/>
            <a:ext cx="118872" cy="100584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FLOW_connector"/>
          <p:cNvCxnSpPr/>
          <p:nvPr/>
        </p:nvCxnSpPr>
        <p:spPr>
          <a:xfrm>
            <a:off x="5586984" y="2651760"/>
            <a:ext cx="118872" cy="82296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FLOW_connector"/>
          <p:cNvCxnSpPr/>
          <p:nvPr/>
        </p:nvCxnSpPr>
        <p:spPr>
          <a:xfrm flipV="1">
            <a:off x="5468112" y="2688336"/>
            <a:ext cx="118872" cy="109728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FLOW_connector"/>
          <p:cNvCxnSpPr/>
          <p:nvPr/>
        </p:nvCxnSpPr>
        <p:spPr>
          <a:xfrm>
            <a:off x="5586984" y="2688336"/>
            <a:ext cx="118872" cy="82296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BOX_Action_Embedding"/>
          <p:cNvSpPr/>
          <p:nvPr/>
        </p:nvSpPr>
        <p:spPr>
          <a:xfrm>
            <a:off x="5797296" y="2532888"/>
            <a:ext cx="566928" cy="292608"/>
          </a:xfrm>
          <a:prstGeom prst="roundRect">
            <a:avLst/>
          </a:prstGeom>
          <a:solidFill>
            <a:srgbClr val="FCE8D6"/>
          </a:solidFill>
          <a:ln w="11430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580" b="1">
                <a:solidFill>
                  <a:srgbClr val="172B3A"/>
                </a:solidFill>
                <a:latin typeface="Arial"/>
              </a:rPr>
              <a:t>Action
Embedding</a:t>
            </a:r>
          </a:p>
        </p:txBody>
      </p:sp>
      <p:sp>
        <p:nvSpPr>
          <p:cNvPr id="128" name="BOX_module"/>
          <p:cNvSpPr/>
          <p:nvPr/>
        </p:nvSpPr>
        <p:spPr>
          <a:xfrm>
            <a:off x="64282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BOX_module"/>
          <p:cNvSpPr/>
          <p:nvPr/>
        </p:nvSpPr>
        <p:spPr>
          <a:xfrm>
            <a:off x="65425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BOX_module"/>
          <p:cNvSpPr/>
          <p:nvPr/>
        </p:nvSpPr>
        <p:spPr>
          <a:xfrm>
            <a:off x="66568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BOX_module"/>
          <p:cNvSpPr/>
          <p:nvPr/>
        </p:nvSpPr>
        <p:spPr>
          <a:xfrm>
            <a:off x="67711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BOX_module"/>
          <p:cNvSpPr/>
          <p:nvPr/>
        </p:nvSpPr>
        <p:spPr>
          <a:xfrm>
            <a:off x="68854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FLOW_connector"/>
          <p:cNvCxnSpPr/>
          <p:nvPr/>
        </p:nvCxnSpPr>
        <p:spPr>
          <a:xfrm flipV="1">
            <a:off x="64739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FLOW_connector"/>
          <p:cNvCxnSpPr/>
          <p:nvPr/>
        </p:nvCxnSpPr>
        <p:spPr>
          <a:xfrm flipV="1">
            <a:off x="65882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FLOW_connector"/>
          <p:cNvCxnSpPr/>
          <p:nvPr/>
        </p:nvCxnSpPr>
        <p:spPr>
          <a:xfrm flipV="1">
            <a:off x="67025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FLOW_connector"/>
          <p:cNvCxnSpPr/>
          <p:nvPr/>
        </p:nvCxnSpPr>
        <p:spPr>
          <a:xfrm flipV="1">
            <a:off x="68168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FLOW_connector"/>
          <p:cNvCxnSpPr/>
          <p:nvPr/>
        </p:nvCxnSpPr>
        <p:spPr>
          <a:xfrm flipV="1">
            <a:off x="69311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FLOW_connector"/>
          <p:cNvCxnSpPr/>
          <p:nvPr/>
        </p:nvCxnSpPr>
        <p:spPr>
          <a:xfrm>
            <a:off x="7068312" y="1901952"/>
            <a:ext cx="182880" cy="0"/>
          </a:xfrm>
          <a:prstGeom prst="line">
            <a:avLst/>
          </a:prstGeom>
          <a:ln w="1524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XT_Future tactile latents"/>
          <p:cNvSpPr txBox="1"/>
          <p:nvPr/>
        </p:nvSpPr>
        <p:spPr>
          <a:xfrm>
            <a:off x="7159752" y="713232"/>
            <a:ext cx="1481328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50" b="1">
                <a:solidFill>
                  <a:srgbClr val="197B82"/>
                </a:solidFill>
                <a:latin typeface="Arial"/>
              </a:rPr>
              <a:t>Future tactile latents</a:t>
            </a:r>
          </a:p>
        </p:txBody>
      </p:sp>
      <p:sp>
        <p:nvSpPr>
          <p:cNvPr id="140" name="BOX_module"/>
          <p:cNvSpPr/>
          <p:nvPr/>
        </p:nvSpPr>
        <p:spPr>
          <a:xfrm>
            <a:off x="7287768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BOX_module"/>
          <p:cNvSpPr/>
          <p:nvPr/>
        </p:nvSpPr>
        <p:spPr>
          <a:xfrm>
            <a:off x="7356348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BOX_module"/>
          <p:cNvSpPr/>
          <p:nvPr/>
        </p:nvSpPr>
        <p:spPr>
          <a:xfrm>
            <a:off x="7424927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BOX_module"/>
          <p:cNvSpPr/>
          <p:nvPr/>
        </p:nvSpPr>
        <p:spPr>
          <a:xfrm>
            <a:off x="7287768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BOX_module"/>
          <p:cNvSpPr/>
          <p:nvPr/>
        </p:nvSpPr>
        <p:spPr>
          <a:xfrm>
            <a:off x="7356348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BOX_module"/>
          <p:cNvSpPr/>
          <p:nvPr/>
        </p:nvSpPr>
        <p:spPr>
          <a:xfrm>
            <a:off x="7424927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BOX_module"/>
          <p:cNvSpPr/>
          <p:nvPr/>
        </p:nvSpPr>
        <p:spPr>
          <a:xfrm>
            <a:off x="7287768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BOX_module"/>
          <p:cNvSpPr/>
          <p:nvPr/>
        </p:nvSpPr>
        <p:spPr>
          <a:xfrm>
            <a:off x="7356348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BOX_module"/>
          <p:cNvSpPr/>
          <p:nvPr/>
        </p:nvSpPr>
        <p:spPr>
          <a:xfrm>
            <a:off x="7424927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XT_t+1"/>
          <p:cNvSpPr txBox="1"/>
          <p:nvPr/>
        </p:nvSpPr>
        <p:spPr>
          <a:xfrm>
            <a:off x="7287768" y="1225296"/>
            <a:ext cx="219456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t+1</a:t>
            </a:r>
          </a:p>
        </p:txBody>
      </p:sp>
      <p:sp>
        <p:nvSpPr>
          <p:cNvPr id="150" name="TXT_..."/>
          <p:cNvSpPr txBox="1"/>
          <p:nvPr/>
        </p:nvSpPr>
        <p:spPr>
          <a:xfrm>
            <a:off x="7616952" y="1042415"/>
            <a:ext cx="201168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700" b="1">
                <a:solidFill>
                  <a:srgbClr val="657487"/>
                </a:solidFill>
                <a:latin typeface="Arial"/>
              </a:rPr>
              <a:t>...</a:t>
            </a:r>
          </a:p>
        </p:txBody>
      </p:sp>
      <p:sp>
        <p:nvSpPr>
          <p:cNvPr id="151" name="BOX_module"/>
          <p:cNvSpPr/>
          <p:nvPr/>
        </p:nvSpPr>
        <p:spPr>
          <a:xfrm>
            <a:off x="7854696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BOX_module"/>
          <p:cNvSpPr/>
          <p:nvPr/>
        </p:nvSpPr>
        <p:spPr>
          <a:xfrm>
            <a:off x="7923275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BOX_module"/>
          <p:cNvSpPr/>
          <p:nvPr/>
        </p:nvSpPr>
        <p:spPr>
          <a:xfrm>
            <a:off x="7991856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BOX_module"/>
          <p:cNvSpPr/>
          <p:nvPr/>
        </p:nvSpPr>
        <p:spPr>
          <a:xfrm>
            <a:off x="7854696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BOX_module"/>
          <p:cNvSpPr/>
          <p:nvPr/>
        </p:nvSpPr>
        <p:spPr>
          <a:xfrm>
            <a:off x="7923275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BOX_module"/>
          <p:cNvSpPr/>
          <p:nvPr/>
        </p:nvSpPr>
        <p:spPr>
          <a:xfrm>
            <a:off x="7991856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BOX_module"/>
          <p:cNvSpPr/>
          <p:nvPr/>
        </p:nvSpPr>
        <p:spPr>
          <a:xfrm>
            <a:off x="7854696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BOX_module"/>
          <p:cNvSpPr/>
          <p:nvPr/>
        </p:nvSpPr>
        <p:spPr>
          <a:xfrm>
            <a:off x="7923275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BOX_module"/>
          <p:cNvSpPr/>
          <p:nvPr/>
        </p:nvSpPr>
        <p:spPr>
          <a:xfrm>
            <a:off x="7991856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XT_t+H"/>
          <p:cNvSpPr txBox="1"/>
          <p:nvPr/>
        </p:nvSpPr>
        <p:spPr>
          <a:xfrm>
            <a:off x="7836408" y="1225296"/>
            <a:ext cx="256032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t+H</a:t>
            </a:r>
          </a:p>
        </p:txBody>
      </p:sp>
      <p:cxnSp>
        <p:nvCxnSpPr>
          <p:cNvPr id="161" name="FLOW_connector"/>
          <p:cNvCxnSpPr/>
          <p:nvPr/>
        </p:nvCxnSpPr>
        <p:spPr>
          <a:xfrm>
            <a:off x="7516368" y="1143000"/>
            <a:ext cx="301752" cy="0"/>
          </a:xfrm>
          <a:prstGeom prst="line">
            <a:avLst/>
          </a:prstGeom>
          <a:ln w="8890">
            <a:solidFill>
              <a:srgbClr val="2D9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BOX_Marker_Decoder"/>
          <p:cNvSpPr/>
          <p:nvPr/>
        </p:nvSpPr>
        <p:spPr>
          <a:xfrm>
            <a:off x="7333488" y="1545336"/>
            <a:ext cx="603504" cy="384048"/>
          </a:xfrm>
          <a:prstGeom prst="roundRect">
            <a:avLst/>
          </a:prstGeom>
          <a:solidFill>
            <a:srgbClr val="EEF1F4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590" b="1">
                <a:solidFill>
                  <a:srgbClr val="172B3A"/>
                </a:solidFill>
                <a:latin typeface="Arial"/>
              </a:rPr>
              <a:t>Marker
Decoder</a:t>
            </a:r>
          </a:p>
        </p:txBody>
      </p:sp>
      <p:cxnSp>
        <p:nvCxnSpPr>
          <p:cNvPr id="163" name="FLOW_connector"/>
          <p:cNvCxnSpPr/>
          <p:nvPr/>
        </p:nvCxnSpPr>
        <p:spPr>
          <a:xfrm flipV="1">
            <a:off x="7858810" y="1485442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FLOW_connector"/>
          <p:cNvCxnSpPr/>
          <p:nvPr/>
        </p:nvCxnSpPr>
        <p:spPr>
          <a:xfrm>
            <a:off x="7858810" y="1485442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FLOW_connector"/>
          <p:cNvCxnSpPr/>
          <p:nvPr/>
        </p:nvCxnSpPr>
        <p:spPr>
          <a:xfrm>
            <a:off x="7897215" y="1485442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BOX_module"/>
          <p:cNvSpPr/>
          <p:nvPr/>
        </p:nvSpPr>
        <p:spPr>
          <a:xfrm>
            <a:off x="7836408" y="1514246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7" name="FLOW_connector"/>
          <p:cNvCxnSpPr/>
          <p:nvPr/>
        </p:nvCxnSpPr>
        <p:spPr>
          <a:xfrm>
            <a:off x="7626096" y="1344168"/>
            <a:ext cx="0" cy="201168"/>
          </a:xfrm>
          <a:prstGeom prst="line">
            <a:avLst/>
          </a:prstGeom>
          <a:ln w="1143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8" name="IMG_foresight_pred_h1" descr="foresight_pred_h1.png"/>
          <p:cNvPicPr>
            <a:picLocks noChangeAspect="1"/>
          </p:cNvPicPr>
          <p:nvPr/>
        </p:nvPicPr>
        <p:blipFill>
          <a:blip r:embed="rId8"/>
          <a:srcRect l="1103" r="1103"/>
          <a:stretch>
            <a:fillRect/>
          </a:stretch>
        </p:blipFill>
        <p:spPr>
          <a:xfrm>
            <a:off x="8101583" y="1618488"/>
            <a:ext cx="310896" cy="310896"/>
          </a:xfrm>
          <a:prstGeom prst="rect">
            <a:avLst/>
          </a:prstGeom>
        </p:spPr>
      </p:pic>
      <p:sp>
        <p:nvSpPr>
          <p:cNvPr id="169" name="FRAME_foresight_pred_h1"/>
          <p:cNvSpPr/>
          <p:nvPr/>
        </p:nvSpPr>
        <p:spPr>
          <a:xfrm>
            <a:off x="8101583" y="1618488"/>
            <a:ext cx="310896" cy="310896"/>
          </a:xfrm>
          <a:prstGeom prst="rect">
            <a:avLst/>
          </a:prstGeom>
          <a:noFill/>
          <a:ln w="508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0" name="IMG_foresight_pred_h8" descr="foresight_pred_h8.png"/>
          <p:cNvPicPr>
            <a:picLocks noChangeAspect="1"/>
          </p:cNvPicPr>
          <p:nvPr/>
        </p:nvPicPr>
        <p:blipFill>
          <a:blip r:embed="rId9"/>
          <a:srcRect l="1103" r="1103"/>
          <a:stretch>
            <a:fillRect/>
          </a:stretch>
        </p:blipFill>
        <p:spPr>
          <a:xfrm>
            <a:off x="8458200" y="1618488"/>
            <a:ext cx="310896" cy="310896"/>
          </a:xfrm>
          <a:prstGeom prst="rect">
            <a:avLst/>
          </a:prstGeom>
        </p:spPr>
      </p:pic>
      <p:sp>
        <p:nvSpPr>
          <p:cNvPr id="171" name="FRAME_foresight_pred_h8"/>
          <p:cNvSpPr/>
          <p:nvPr/>
        </p:nvSpPr>
        <p:spPr>
          <a:xfrm>
            <a:off x="8458200" y="1618488"/>
            <a:ext cx="310896" cy="310896"/>
          </a:xfrm>
          <a:prstGeom prst="rect">
            <a:avLst/>
          </a:prstGeom>
          <a:noFill/>
          <a:ln w="508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IMG_foresight_pred_h16" descr="foresight_pred_h16.png"/>
          <p:cNvPicPr>
            <a:picLocks noChangeAspect="1"/>
          </p:cNvPicPr>
          <p:nvPr/>
        </p:nvPicPr>
        <p:blipFill>
          <a:blip r:embed="rId10"/>
          <a:srcRect l="1460" r="1460"/>
          <a:stretch>
            <a:fillRect/>
          </a:stretch>
        </p:blipFill>
        <p:spPr>
          <a:xfrm>
            <a:off x="8814815" y="1618488"/>
            <a:ext cx="310896" cy="310896"/>
          </a:xfrm>
          <a:prstGeom prst="rect">
            <a:avLst/>
          </a:prstGeom>
        </p:spPr>
      </p:pic>
      <p:sp>
        <p:nvSpPr>
          <p:cNvPr id="173" name="FRAME_foresight_pred_h16"/>
          <p:cNvSpPr/>
          <p:nvPr/>
        </p:nvSpPr>
        <p:spPr>
          <a:xfrm>
            <a:off x="8814815" y="1618488"/>
            <a:ext cx="310896" cy="310896"/>
          </a:xfrm>
          <a:prstGeom prst="rect">
            <a:avLst/>
          </a:prstGeom>
          <a:noFill/>
          <a:ln w="508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FLOW_connector"/>
          <p:cNvCxnSpPr/>
          <p:nvPr/>
        </p:nvCxnSpPr>
        <p:spPr>
          <a:xfrm>
            <a:off x="7936992" y="1737360"/>
            <a:ext cx="146304" cy="36576"/>
          </a:xfrm>
          <a:prstGeom prst="line">
            <a:avLst/>
          </a:prstGeom>
          <a:ln w="1143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XT_Decoded contact evolutio"/>
          <p:cNvSpPr txBox="1"/>
          <p:nvPr/>
        </p:nvSpPr>
        <p:spPr>
          <a:xfrm>
            <a:off x="7973568" y="1956816"/>
            <a:ext cx="118872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657487"/>
                </a:solidFill>
                <a:latin typeface="Arial"/>
              </a:rPr>
              <a:t>Decoded contact evolution</a:t>
            </a:r>
          </a:p>
        </p:txBody>
      </p:sp>
      <p:sp>
        <p:nvSpPr>
          <p:cNvPr id="176" name="TXT_parallel future"/>
          <p:cNvSpPr txBox="1"/>
          <p:nvPr/>
        </p:nvSpPr>
        <p:spPr>
          <a:xfrm>
            <a:off x="8001000" y="2139696"/>
            <a:ext cx="114300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0">
                <a:solidFill>
                  <a:srgbClr val="8E9AA8"/>
                </a:solidFill>
                <a:latin typeface="Arial"/>
              </a:rPr>
              <a:t>parallel future</a:t>
            </a:r>
          </a:p>
        </p:txBody>
      </p:sp>
      <p:sp>
        <p:nvSpPr>
          <p:cNvPr id="177" name="TXT_(c) Contact-Quality Scor"/>
          <p:cNvSpPr txBox="1"/>
          <p:nvPr/>
        </p:nvSpPr>
        <p:spPr>
          <a:xfrm>
            <a:off x="9326880" y="429768"/>
            <a:ext cx="2697480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19" b="1">
                <a:solidFill>
                  <a:srgbClr val="172B3A"/>
                </a:solidFill>
                <a:latin typeface="Arial"/>
              </a:rPr>
              <a:t>(c) Contact-Quality Scorer</a:t>
            </a:r>
          </a:p>
        </p:txBody>
      </p:sp>
      <p:sp>
        <p:nvSpPr>
          <p:cNvPr id="178" name="BOX_module"/>
          <p:cNvSpPr/>
          <p:nvPr/>
        </p:nvSpPr>
        <p:spPr>
          <a:xfrm>
            <a:off x="9418320" y="822960"/>
            <a:ext cx="310896" cy="310896"/>
          </a:xfrm>
          <a:prstGeom prst="roundRect">
            <a:avLst/>
          </a:prstGeom>
          <a:solidFill>
            <a:srgbClr val="E2F2E4"/>
          </a:solidFill>
          <a:ln w="8890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XT_+"/>
          <p:cNvSpPr txBox="1"/>
          <p:nvPr/>
        </p:nvSpPr>
        <p:spPr>
          <a:xfrm>
            <a:off x="9418320" y="822960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59A968"/>
                </a:solidFill>
                <a:latin typeface="Arial"/>
              </a:rPr>
              <a:t>+</a:t>
            </a:r>
          </a:p>
        </p:txBody>
      </p:sp>
      <p:sp>
        <p:nvSpPr>
          <p:cNvPr id="180" name="TXT_stable"/>
          <p:cNvSpPr txBox="1"/>
          <p:nvPr/>
        </p:nvSpPr>
        <p:spPr>
          <a:xfrm>
            <a:off x="9345168" y="1152144"/>
            <a:ext cx="4572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0">
                <a:solidFill>
                  <a:srgbClr val="657487"/>
                </a:solidFill>
                <a:latin typeface="Arial"/>
              </a:rPr>
              <a:t>stable</a:t>
            </a:r>
          </a:p>
        </p:txBody>
      </p:sp>
      <p:sp>
        <p:nvSpPr>
          <p:cNvPr id="181" name="BOX_module"/>
          <p:cNvSpPr/>
          <p:nvPr/>
        </p:nvSpPr>
        <p:spPr>
          <a:xfrm>
            <a:off x="9912096" y="822960"/>
            <a:ext cx="310896" cy="310896"/>
          </a:xfrm>
          <a:prstGeom prst="roundRect">
            <a:avLst/>
          </a:prstGeom>
          <a:solidFill>
            <a:srgbClr val="F7E1E1"/>
          </a:solidFill>
          <a:ln w="889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XT_-"/>
          <p:cNvSpPr txBox="1"/>
          <p:nvPr/>
        </p:nvSpPr>
        <p:spPr>
          <a:xfrm>
            <a:off x="9912096" y="822960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D85D5D"/>
                </a:solidFill>
                <a:latin typeface="Arial"/>
              </a:rPr>
              <a:t>-</a:t>
            </a:r>
          </a:p>
        </p:txBody>
      </p:sp>
      <p:sp>
        <p:nvSpPr>
          <p:cNvPr id="183" name="TXT_dropout"/>
          <p:cNvSpPr txBox="1"/>
          <p:nvPr/>
        </p:nvSpPr>
        <p:spPr>
          <a:xfrm>
            <a:off x="9838944" y="1152144"/>
            <a:ext cx="4572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0">
                <a:solidFill>
                  <a:srgbClr val="657487"/>
                </a:solidFill>
                <a:latin typeface="Arial"/>
              </a:rPr>
              <a:t>dropout</a:t>
            </a:r>
          </a:p>
        </p:txBody>
      </p:sp>
      <p:sp>
        <p:nvSpPr>
          <p:cNvPr id="184" name="BOX_module"/>
          <p:cNvSpPr/>
          <p:nvPr/>
        </p:nvSpPr>
        <p:spPr>
          <a:xfrm>
            <a:off x="10405872" y="822960"/>
            <a:ext cx="310896" cy="310896"/>
          </a:xfrm>
          <a:prstGeom prst="roundRect">
            <a:avLst/>
          </a:prstGeom>
          <a:solidFill>
            <a:srgbClr val="F7E1E1"/>
          </a:solidFill>
          <a:ln w="889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XT_!"/>
          <p:cNvSpPr txBox="1"/>
          <p:nvPr/>
        </p:nvSpPr>
        <p:spPr>
          <a:xfrm>
            <a:off x="10405872" y="822960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D85D5D"/>
                </a:solidFill>
                <a:latin typeface="Arial"/>
              </a:rPr>
              <a:t>!</a:t>
            </a:r>
          </a:p>
        </p:txBody>
      </p:sp>
      <p:sp>
        <p:nvSpPr>
          <p:cNvPr id="186" name="TXT_excess"/>
          <p:cNvSpPr txBox="1"/>
          <p:nvPr/>
        </p:nvSpPr>
        <p:spPr>
          <a:xfrm>
            <a:off x="10332720" y="1152144"/>
            <a:ext cx="4572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0">
                <a:solidFill>
                  <a:srgbClr val="657487"/>
                </a:solidFill>
                <a:latin typeface="Arial"/>
              </a:rPr>
              <a:t>excess</a:t>
            </a:r>
          </a:p>
        </p:txBody>
      </p:sp>
      <p:sp>
        <p:nvSpPr>
          <p:cNvPr id="187" name="BOX_module"/>
          <p:cNvSpPr/>
          <p:nvPr/>
        </p:nvSpPr>
        <p:spPr>
          <a:xfrm>
            <a:off x="10899648" y="822960"/>
            <a:ext cx="310896" cy="310896"/>
          </a:xfrm>
          <a:prstGeom prst="roundRect">
            <a:avLst/>
          </a:prstGeom>
          <a:solidFill>
            <a:srgbClr val="F7E1E1"/>
          </a:solidFill>
          <a:ln w="889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XT_~"/>
          <p:cNvSpPr txBox="1"/>
          <p:nvPr/>
        </p:nvSpPr>
        <p:spPr>
          <a:xfrm>
            <a:off x="10899648" y="822960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D85D5D"/>
                </a:solidFill>
                <a:latin typeface="Arial"/>
              </a:rPr>
              <a:t>~</a:t>
            </a:r>
          </a:p>
        </p:txBody>
      </p:sp>
      <p:sp>
        <p:nvSpPr>
          <p:cNvPr id="189" name="TXT_slip"/>
          <p:cNvSpPr txBox="1"/>
          <p:nvPr/>
        </p:nvSpPr>
        <p:spPr>
          <a:xfrm>
            <a:off x="10826496" y="1152144"/>
            <a:ext cx="4572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0">
                <a:solidFill>
                  <a:srgbClr val="657487"/>
                </a:solidFill>
                <a:latin typeface="Arial"/>
              </a:rPr>
              <a:t>slip</a:t>
            </a:r>
          </a:p>
        </p:txBody>
      </p:sp>
      <p:sp>
        <p:nvSpPr>
          <p:cNvPr id="190" name="BOX_module"/>
          <p:cNvSpPr/>
          <p:nvPr/>
        </p:nvSpPr>
        <p:spPr>
          <a:xfrm>
            <a:off x="11393424" y="822960"/>
            <a:ext cx="310896" cy="310896"/>
          </a:xfrm>
          <a:prstGeom prst="roundRect">
            <a:avLst/>
          </a:prstGeom>
          <a:solidFill>
            <a:srgbClr val="F7E1E1"/>
          </a:solidFill>
          <a:ln w="889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XT_x"/>
          <p:cNvSpPr txBox="1"/>
          <p:nvPr/>
        </p:nvSpPr>
        <p:spPr>
          <a:xfrm>
            <a:off x="11393424" y="822960"/>
            <a:ext cx="310896" cy="31089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00" b="1">
                <a:solidFill>
                  <a:srgbClr val="D85D5D"/>
                </a:solidFill>
                <a:latin typeface="Arial"/>
              </a:rPr>
              <a:t>x</a:t>
            </a:r>
          </a:p>
        </p:txBody>
      </p:sp>
      <p:sp>
        <p:nvSpPr>
          <p:cNvPr id="192" name="TXT_jam"/>
          <p:cNvSpPr txBox="1"/>
          <p:nvPr/>
        </p:nvSpPr>
        <p:spPr>
          <a:xfrm>
            <a:off x="11320272" y="1152144"/>
            <a:ext cx="4572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0">
                <a:solidFill>
                  <a:srgbClr val="657487"/>
                </a:solidFill>
                <a:latin typeface="Arial"/>
              </a:rPr>
              <a:t>jam</a:t>
            </a:r>
          </a:p>
        </p:txBody>
      </p:sp>
      <p:cxnSp>
        <p:nvCxnSpPr>
          <p:cNvPr id="193" name="FLOW_connector"/>
          <p:cNvCxnSpPr/>
          <p:nvPr/>
        </p:nvCxnSpPr>
        <p:spPr>
          <a:xfrm>
            <a:off x="9381744" y="1371600"/>
            <a:ext cx="2551176" cy="0"/>
          </a:xfrm>
          <a:prstGeom prst="line">
            <a:avLst/>
          </a:prstGeom>
          <a:ln w="8255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XT_Aligned trajectories"/>
          <p:cNvSpPr txBox="1"/>
          <p:nvPr/>
        </p:nvSpPr>
        <p:spPr>
          <a:xfrm>
            <a:off x="9372600" y="1499616"/>
            <a:ext cx="11430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40" b="1">
                <a:solidFill>
                  <a:srgbClr val="657487"/>
                </a:solidFill>
                <a:latin typeface="Arial"/>
              </a:rPr>
              <a:t>Aligned trajectories</a:t>
            </a:r>
          </a:p>
        </p:txBody>
      </p:sp>
      <p:sp>
        <p:nvSpPr>
          <p:cNvPr id="195" name="BOX_module"/>
          <p:cNvSpPr/>
          <p:nvPr/>
        </p:nvSpPr>
        <p:spPr>
          <a:xfrm>
            <a:off x="9464040" y="1764792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BOX_module"/>
          <p:cNvSpPr/>
          <p:nvPr/>
        </p:nvSpPr>
        <p:spPr>
          <a:xfrm>
            <a:off x="9614915" y="1764792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BOX_module"/>
          <p:cNvSpPr/>
          <p:nvPr/>
        </p:nvSpPr>
        <p:spPr>
          <a:xfrm>
            <a:off x="9765792" y="1764792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BOX_module"/>
          <p:cNvSpPr/>
          <p:nvPr/>
        </p:nvSpPr>
        <p:spPr>
          <a:xfrm>
            <a:off x="9916667" y="1764792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BOX_module"/>
          <p:cNvSpPr/>
          <p:nvPr/>
        </p:nvSpPr>
        <p:spPr>
          <a:xfrm>
            <a:off x="10067544" y="1764792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BOX_module"/>
          <p:cNvSpPr/>
          <p:nvPr/>
        </p:nvSpPr>
        <p:spPr>
          <a:xfrm>
            <a:off x="9464040" y="204825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BOX_module"/>
          <p:cNvSpPr/>
          <p:nvPr/>
        </p:nvSpPr>
        <p:spPr>
          <a:xfrm>
            <a:off x="9614915" y="204825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BOX_module"/>
          <p:cNvSpPr/>
          <p:nvPr/>
        </p:nvSpPr>
        <p:spPr>
          <a:xfrm>
            <a:off x="9765792" y="204825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BOX_module"/>
          <p:cNvSpPr/>
          <p:nvPr/>
        </p:nvSpPr>
        <p:spPr>
          <a:xfrm>
            <a:off x="9916667" y="204825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BOX_module"/>
          <p:cNvSpPr/>
          <p:nvPr/>
        </p:nvSpPr>
        <p:spPr>
          <a:xfrm>
            <a:off x="10067544" y="204825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FLOW_connector"/>
          <p:cNvCxnSpPr/>
          <p:nvPr/>
        </p:nvCxnSpPr>
        <p:spPr>
          <a:xfrm>
            <a:off x="10195560" y="1837943"/>
            <a:ext cx="301752" cy="109729"/>
          </a:xfrm>
          <a:prstGeom prst="line">
            <a:avLst/>
          </a:prstGeom>
          <a:ln w="1270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FLOW_connector"/>
          <p:cNvCxnSpPr/>
          <p:nvPr/>
        </p:nvCxnSpPr>
        <p:spPr>
          <a:xfrm flipV="1">
            <a:off x="10195560" y="1993392"/>
            <a:ext cx="301752" cy="118872"/>
          </a:xfrm>
          <a:prstGeom prst="line">
            <a:avLst/>
          </a:prstGeom>
          <a:ln w="1270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BOX_Contact-Quality_Scorer"/>
          <p:cNvSpPr/>
          <p:nvPr/>
        </p:nvSpPr>
        <p:spPr>
          <a:xfrm>
            <a:off x="10497312" y="1673352"/>
            <a:ext cx="749808" cy="621792"/>
          </a:xfrm>
          <a:prstGeom prst="roundRect">
            <a:avLst/>
          </a:prstGeom>
          <a:solidFill>
            <a:srgbClr val="F4EDD8"/>
          </a:solidFill>
          <a:ln w="11430">
            <a:solidFill>
              <a:srgbClr val="C6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20" b="1">
                <a:solidFill>
                  <a:srgbClr val="172B3A"/>
                </a:solidFill>
                <a:latin typeface="Arial"/>
              </a:rPr>
              <a:t>Contact-Quality
Scorer</a:t>
            </a:r>
          </a:p>
        </p:txBody>
      </p:sp>
      <p:sp>
        <p:nvSpPr>
          <p:cNvPr id="208" name="TXT_stable"/>
          <p:cNvSpPr txBox="1"/>
          <p:nvPr/>
        </p:nvSpPr>
        <p:spPr>
          <a:xfrm>
            <a:off x="11329416" y="1636776"/>
            <a:ext cx="438912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80" b="1">
                <a:solidFill>
                  <a:srgbClr val="347B45"/>
                </a:solidFill>
                <a:latin typeface="Arial"/>
              </a:rPr>
              <a:t>stable</a:t>
            </a:r>
          </a:p>
        </p:txBody>
      </p:sp>
      <p:sp>
        <p:nvSpPr>
          <p:cNvPr id="209" name="BOX_module"/>
          <p:cNvSpPr/>
          <p:nvPr/>
        </p:nvSpPr>
        <p:spPr>
          <a:xfrm>
            <a:off x="11338560" y="1801368"/>
            <a:ext cx="502920" cy="91440"/>
          </a:xfrm>
          <a:prstGeom prst="roundRect">
            <a:avLst/>
          </a:prstGeom>
          <a:solidFill>
            <a:srgbClr val="59A968"/>
          </a:solidFill>
          <a:ln w="11430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XT_failure risk"/>
          <p:cNvSpPr txBox="1"/>
          <p:nvPr/>
        </p:nvSpPr>
        <p:spPr>
          <a:xfrm>
            <a:off x="11329416" y="1956816"/>
            <a:ext cx="566928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80" b="1">
                <a:solidFill>
                  <a:srgbClr val="D85D5D"/>
                </a:solidFill>
                <a:latin typeface="Arial"/>
              </a:rPr>
              <a:t>failure risk</a:t>
            </a:r>
          </a:p>
        </p:txBody>
      </p:sp>
      <p:sp>
        <p:nvSpPr>
          <p:cNvPr id="211" name="BOX_module"/>
          <p:cNvSpPr/>
          <p:nvPr/>
        </p:nvSpPr>
        <p:spPr>
          <a:xfrm>
            <a:off x="11338560" y="2121408"/>
            <a:ext cx="301752" cy="91440"/>
          </a:xfrm>
          <a:prstGeom prst="roundRect">
            <a:avLst/>
          </a:prstGeom>
          <a:solidFill>
            <a:srgbClr val="D85D5D"/>
          </a:solidFill>
          <a:ln w="1143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2" name="FLOW_connector"/>
          <p:cNvCxnSpPr/>
          <p:nvPr/>
        </p:nvCxnSpPr>
        <p:spPr>
          <a:xfrm>
            <a:off x="11247120" y="1975104"/>
            <a:ext cx="73152" cy="0"/>
          </a:xfrm>
          <a:prstGeom prst="line">
            <a:avLst/>
          </a:prstGeom>
          <a:ln w="12700">
            <a:solidFill>
              <a:srgbClr val="C6A24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XT_INFERENCE-TIME PREDICTIV"/>
          <p:cNvSpPr txBox="1"/>
          <p:nvPr/>
        </p:nvSpPr>
        <p:spPr>
          <a:xfrm>
            <a:off x="164592" y="2962656"/>
            <a:ext cx="3840480" cy="20116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1080" b="1">
                <a:solidFill>
                  <a:srgbClr val="172B3A"/>
                </a:solidFill>
                <a:latin typeface="Arial"/>
              </a:rPr>
              <a:t>INFERENCE-TIME PREDICTIVE GUIDANCE</a:t>
            </a:r>
          </a:p>
        </p:txBody>
      </p:sp>
      <p:sp>
        <p:nvSpPr>
          <p:cNvPr id="214" name="TXT_Frozen models; only the "/>
          <p:cNvSpPr txBox="1"/>
          <p:nvPr/>
        </p:nvSpPr>
        <p:spPr>
          <a:xfrm>
            <a:off x="164592" y="3172968"/>
            <a:ext cx="28346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50" b="0">
                <a:solidFill>
                  <a:srgbClr val="657487"/>
                </a:solidFill>
                <a:latin typeface="Arial"/>
              </a:rPr>
              <a:t>Frozen models; only the action sample is updated.</a:t>
            </a:r>
          </a:p>
        </p:txBody>
      </p:sp>
      <p:sp>
        <p:nvSpPr>
          <p:cNvPr id="215" name="BOX_module"/>
          <p:cNvSpPr/>
          <p:nvPr/>
        </p:nvSpPr>
        <p:spPr>
          <a:xfrm>
            <a:off x="256032" y="4572000"/>
            <a:ext cx="137160" cy="137160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BOX_module"/>
          <p:cNvSpPr/>
          <p:nvPr/>
        </p:nvSpPr>
        <p:spPr>
          <a:xfrm>
            <a:off x="416052" y="4572000"/>
            <a:ext cx="137160" cy="137160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BOX_module"/>
          <p:cNvSpPr/>
          <p:nvPr/>
        </p:nvSpPr>
        <p:spPr>
          <a:xfrm>
            <a:off x="576072" y="457200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BOX_module"/>
          <p:cNvSpPr/>
          <p:nvPr/>
        </p:nvSpPr>
        <p:spPr>
          <a:xfrm>
            <a:off x="736092" y="457200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BOX_module"/>
          <p:cNvSpPr/>
          <p:nvPr/>
        </p:nvSpPr>
        <p:spPr>
          <a:xfrm>
            <a:off x="896112" y="457200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XT_initial noise"/>
          <p:cNvSpPr txBox="1"/>
          <p:nvPr/>
        </p:nvSpPr>
        <p:spPr>
          <a:xfrm>
            <a:off x="228600" y="4764024"/>
            <a:ext cx="822960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0">
                <a:solidFill>
                  <a:srgbClr val="657487"/>
                </a:solidFill>
                <a:latin typeface="Arial"/>
              </a:rPr>
              <a:t>initial noise</a:t>
            </a:r>
          </a:p>
        </p:txBody>
      </p:sp>
      <p:cxnSp>
        <p:nvCxnSpPr>
          <p:cNvPr id="221" name="FLOW_connector"/>
          <p:cNvCxnSpPr/>
          <p:nvPr/>
        </p:nvCxnSpPr>
        <p:spPr>
          <a:xfrm>
            <a:off x="1078992" y="4645152"/>
            <a:ext cx="310896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XT_..."/>
          <p:cNvSpPr txBox="1"/>
          <p:nvPr/>
        </p:nvSpPr>
        <p:spPr>
          <a:xfrm>
            <a:off x="1380744" y="4553712"/>
            <a:ext cx="22860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800" b="1">
                <a:solidFill>
                  <a:srgbClr val="657487"/>
                </a:solidFill>
                <a:latin typeface="Arial"/>
              </a:rPr>
              <a:t>...</a:t>
            </a:r>
          </a:p>
        </p:txBody>
      </p:sp>
      <p:cxnSp>
        <p:nvCxnSpPr>
          <p:cNvPr id="223" name="FLOW_connector"/>
          <p:cNvCxnSpPr/>
          <p:nvPr/>
        </p:nvCxnSpPr>
        <p:spPr>
          <a:xfrm>
            <a:off x="1609344" y="4645152"/>
            <a:ext cx="265175" cy="0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BOX_module"/>
          <p:cNvSpPr/>
          <p:nvPr/>
        </p:nvSpPr>
        <p:spPr>
          <a:xfrm>
            <a:off x="1874519" y="4498848"/>
            <a:ext cx="1078992" cy="301752"/>
          </a:xfrm>
          <a:prstGeom prst="roundRect">
            <a:avLst/>
          </a:prstGeom>
          <a:solidFill>
            <a:srgbClr val="E8F0F8"/>
          </a:solidFill>
          <a:ln w="1651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BOX_module"/>
          <p:cNvSpPr/>
          <p:nvPr/>
        </p:nvSpPr>
        <p:spPr>
          <a:xfrm>
            <a:off x="1956816" y="4572000"/>
            <a:ext cx="128016" cy="128016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BOX_module"/>
          <p:cNvSpPr/>
          <p:nvPr/>
        </p:nvSpPr>
        <p:spPr>
          <a:xfrm>
            <a:off x="2107692" y="4572000"/>
            <a:ext cx="128016" cy="128016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BOX_module"/>
          <p:cNvSpPr/>
          <p:nvPr/>
        </p:nvSpPr>
        <p:spPr>
          <a:xfrm>
            <a:off x="2258568" y="457200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BOX_module"/>
          <p:cNvSpPr/>
          <p:nvPr/>
        </p:nvSpPr>
        <p:spPr>
          <a:xfrm>
            <a:off x="2409444" y="457200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BOX_module"/>
          <p:cNvSpPr/>
          <p:nvPr/>
        </p:nvSpPr>
        <p:spPr>
          <a:xfrm>
            <a:off x="2560320" y="457200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XT_selected late state  xᵏ"/>
          <p:cNvSpPr txBox="1"/>
          <p:nvPr/>
        </p:nvSpPr>
        <p:spPr>
          <a:xfrm>
            <a:off x="1828800" y="4837176"/>
            <a:ext cx="1207008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50" b="1">
                <a:solidFill>
                  <a:srgbClr val="35689F"/>
                </a:solidFill>
                <a:latin typeface="Arial"/>
              </a:rPr>
              <a:t>selected late state  xᵏ</a:t>
            </a:r>
          </a:p>
        </p:txBody>
      </p:sp>
      <p:cxnSp>
        <p:nvCxnSpPr>
          <p:cNvPr id="231" name="FLOW_connector"/>
          <p:cNvCxnSpPr/>
          <p:nvPr/>
        </p:nvCxnSpPr>
        <p:spPr>
          <a:xfrm>
            <a:off x="2953512" y="4645152"/>
            <a:ext cx="365760" cy="0"/>
          </a:xfrm>
          <a:prstGeom prst="line">
            <a:avLst/>
          </a:prstGeom>
          <a:ln w="20320">
            <a:solidFill>
              <a:srgbClr val="59A9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XT_guided_update"/>
          <p:cNvSpPr txBox="1"/>
          <p:nvPr/>
        </p:nvSpPr>
        <p:spPr>
          <a:xfrm>
            <a:off x="2953512" y="4288536"/>
            <a:ext cx="365760" cy="27432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347B45"/>
                </a:solidFill>
                <a:latin typeface="Arial"/>
              </a:rPr>
              <a:t>guided
update</a:t>
            </a:r>
          </a:p>
        </p:txBody>
      </p:sp>
      <p:sp>
        <p:nvSpPr>
          <p:cNvPr id="233" name="BOX_module"/>
          <p:cNvSpPr/>
          <p:nvPr/>
        </p:nvSpPr>
        <p:spPr>
          <a:xfrm>
            <a:off x="3319272" y="4498848"/>
            <a:ext cx="1078992" cy="301752"/>
          </a:xfrm>
          <a:prstGeom prst="roundRect">
            <a:avLst/>
          </a:prstGeom>
          <a:solidFill>
            <a:srgbClr val="E2F2E4"/>
          </a:solidFill>
          <a:ln w="16510">
            <a:solidFill>
              <a:srgbClr val="347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BOX_module"/>
          <p:cNvSpPr/>
          <p:nvPr/>
        </p:nvSpPr>
        <p:spPr>
          <a:xfrm>
            <a:off x="3401568" y="4572000"/>
            <a:ext cx="128016" cy="128016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BOX_module"/>
          <p:cNvSpPr/>
          <p:nvPr/>
        </p:nvSpPr>
        <p:spPr>
          <a:xfrm>
            <a:off x="3552444" y="4572000"/>
            <a:ext cx="128016" cy="128016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BOX_module"/>
          <p:cNvSpPr/>
          <p:nvPr/>
        </p:nvSpPr>
        <p:spPr>
          <a:xfrm>
            <a:off x="3703320" y="457200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BOX_module"/>
          <p:cNvSpPr/>
          <p:nvPr/>
        </p:nvSpPr>
        <p:spPr>
          <a:xfrm>
            <a:off x="3854196" y="457200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BOX_module"/>
          <p:cNvSpPr/>
          <p:nvPr/>
        </p:nvSpPr>
        <p:spPr>
          <a:xfrm>
            <a:off x="4005072" y="457200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XT_updated state  x̃ᵏ"/>
          <p:cNvSpPr txBox="1"/>
          <p:nvPr/>
        </p:nvSpPr>
        <p:spPr>
          <a:xfrm>
            <a:off x="3310128" y="4837176"/>
            <a:ext cx="109728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50" b="1">
                <a:solidFill>
                  <a:srgbClr val="347B45"/>
                </a:solidFill>
                <a:latin typeface="Arial"/>
              </a:rPr>
              <a:t>updated state  x̃ᵏ</a:t>
            </a:r>
          </a:p>
        </p:txBody>
      </p:sp>
      <p:cxnSp>
        <p:nvCxnSpPr>
          <p:cNvPr id="240" name="FLOW_connector"/>
          <p:cNvCxnSpPr/>
          <p:nvPr/>
        </p:nvCxnSpPr>
        <p:spPr>
          <a:xfrm>
            <a:off x="4398264" y="4645152"/>
            <a:ext cx="356616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BOX_module"/>
          <p:cNvSpPr/>
          <p:nvPr/>
        </p:nvSpPr>
        <p:spPr>
          <a:xfrm>
            <a:off x="475488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BOX_module"/>
          <p:cNvSpPr/>
          <p:nvPr/>
        </p:nvSpPr>
        <p:spPr>
          <a:xfrm>
            <a:off x="491490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BOX_module"/>
          <p:cNvSpPr/>
          <p:nvPr/>
        </p:nvSpPr>
        <p:spPr>
          <a:xfrm>
            <a:off x="507492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BOX_module"/>
          <p:cNvSpPr/>
          <p:nvPr/>
        </p:nvSpPr>
        <p:spPr>
          <a:xfrm>
            <a:off x="523494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BOX_module"/>
          <p:cNvSpPr/>
          <p:nvPr/>
        </p:nvSpPr>
        <p:spPr>
          <a:xfrm>
            <a:off x="539496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BOX_module"/>
          <p:cNvSpPr/>
          <p:nvPr/>
        </p:nvSpPr>
        <p:spPr>
          <a:xfrm>
            <a:off x="555498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BOX_module"/>
          <p:cNvSpPr/>
          <p:nvPr/>
        </p:nvSpPr>
        <p:spPr>
          <a:xfrm>
            <a:off x="5715000" y="457200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XT_continue frozen denoisin"/>
          <p:cNvSpPr txBox="1"/>
          <p:nvPr/>
        </p:nvSpPr>
        <p:spPr>
          <a:xfrm>
            <a:off x="4700016" y="4828032"/>
            <a:ext cx="141732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657487"/>
                </a:solidFill>
                <a:latin typeface="Arial"/>
              </a:rPr>
              <a:t>continue frozen denoising</a:t>
            </a:r>
          </a:p>
        </p:txBody>
      </p:sp>
      <p:cxnSp>
        <p:nvCxnSpPr>
          <p:cNvPr id="249" name="FLOW_connector"/>
          <p:cNvCxnSpPr/>
          <p:nvPr/>
        </p:nvCxnSpPr>
        <p:spPr>
          <a:xfrm>
            <a:off x="5916168" y="4645152"/>
            <a:ext cx="320040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XT_..."/>
          <p:cNvSpPr txBox="1"/>
          <p:nvPr/>
        </p:nvSpPr>
        <p:spPr>
          <a:xfrm>
            <a:off x="6217920" y="4553712"/>
            <a:ext cx="22860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800" b="1">
                <a:solidFill>
                  <a:srgbClr val="657487"/>
                </a:solidFill>
                <a:latin typeface="Arial"/>
              </a:rPr>
              <a:t>...</a:t>
            </a:r>
          </a:p>
        </p:txBody>
      </p:sp>
      <p:cxnSp>
        <p:nvCxnSpPr>
          <p:cNvPr id="251" name="FLOW_connector"/>
          <p:cNvCxnSpPr/>
          <p:nvPr/>
        </p:nvCxnSpPr>
        <p:spPr>
          <a:xfrm>
            <a:off x="6446520" y="4645152"/>
            <a:ext cx="301752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BOX_module"/>
          <p:cNvSpPr/>
          <p:nvPr/>
        </p:nvSpPr>
        <p:spPr>
          <a:xfrm>
            <a:off x="6748272" y="457200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BOX_module"/>
          <p:cNvSpPr/>
          <p:nvPr/>
        </p:nvSpPr>
        <p:spPr>
          <a:xfrm>
            <a:off x="6908292" y="457200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BOX_module"/>
          <p:cNvSpPr/>
          <p:nvPr/>
        </p:nvSpPr>
        <p:spPr>
          <a:xfrm>
            <a:off x="7068312" y="4572000"/>
            <a:ext cx="137160" cy="137160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BOX_module"/>
          <p:cNvSpPr/>
          <p:nvPr/>
        </p:nvSpPr>
        <p:spPr>
          <a:xfrm>
            <a:off x="7228331" y="4572000"/>
            <a:ext cx="137160" cy="137160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BOX_module"/>
          <p:cNvSpPr/>
          <p:nvPr/>
        </p:nvSpPr>
        <p:spPr>
          <a:xfrm>
            <a:off x="7388352" y="4572000"/>
            <a:ext cx="137160" cy="137160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BOX_module"/>
          <p:cNvSpPr/>
          <p:nvPr/>
        </p:nvSpPr>
        <p:spPr>
          <a:xfrm>
            <a:off x="7548371" y="4572000"/>
            <a:ext cx="137160" cy="137160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XT_final guided action"/>
          <p:cNvSpPr txBox="1"/>
          <p:nvPr/>
        </p:nvSpPr>
        <p:spPr>
          <a:xfrm>
            <a:off x="6720840" y="4828032"/>
            <a:ext cx="109728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40" b="1">
                <a:solidFill>
                  <a:srgbClr val="B96425"/>
                </a:solidFill>
                <a:latin typeface="Arial"/>
              </a:rPr>
              <a:t>final guided action</a:t>
            </a:r>
          </a:p>
        </p:txBody>
      </p:sp>
      <p:cxnSp>
        <p:nvCxnSpPr>
          <p:cNvPr id="259" name="FLOW_connector"/>
          <p:cNvCxnSpPr/>
          <p:nvPr/>
        </p:nvCxnSpPr>
        <p:spPr>
          <a:xfrm>
            <a:off x="7799831" y="4645152"/>
            <a:ext cx="448057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0" name="IMG_chip_execution_clean_t06" descr="chip_execution_clean_t06.0s_f0144.png"/>
          <p:cNvPicPr>
            <a:picLocks noChangeAspect="1"/>
          </p:cNvPicPr>
          <p:nvPr/>
        </p:nvPicPr>
        <p:blipFill>
          <a:blip r:embed="rId11"/>
          <a:srcRect l="7083" r="7083"/>
          <a:stretch>
            <a:fillRect/>
          </a:stretch>
        </p:blipFill>
        <p:spPr>
          <a:xfrm>
            <a:off x="8257031" y="4361688"/>
            <a:ext cx="658368" cy="438912"/>
          </a:xfrm>
          <a:prstGeom prst="rect">
            <a:avLst/>
          </a:prstGeom>
        </p:spPr>
      </p:pic>
      <p:sp>
        <p:nvSpPr>
          <p:cNvPr id="261" name="FRAME_chip_execution_clean_t06"/>
          <p:cNvSpPr/>
          <p:nvPr/>
        </p:nvSpPr>
        <p:spPr>
          <a:xfrm>
            <a:off x="8257031" y="4361688"/>
            <a:ext cx="658368" cy="438912"/>
          </a:xfrm>
          <a:prstGeom prst="rect">
            <a:avLst/>
          </a:prstGeom>
          <a:noFill/>
          <a:ln w="698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2" name="FLOW_connector"/>
          <p:cNvCxnSpPr/>
          <p:nvPr/>
        </p:nvCxnSpPr>
        <p:spPr>
          <a:xfrm>
            <a:off x="8933688" y="4581144"/>
            <a:ext cx="182880" cy="0"/>
          </a:xfrm>
          <a:prstGeom prst="line">
            <a:avLst/>
          </a:prstGeom>
          <a:ln w="11430">
            <a:solidFill>
              <a:srgbClr val="347B4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3" name="IMG_chip_execution_clean_t10" descr="chip_execution_clean_t10.0s_f0240.png"/>
          <p:cNvPicPr>
            <a:picLocks noChangeAspect="1"/>
          </p:cNvPicPr>
          <p:nvPr/>
        </p:nvPicPr>
        <p:blipFill>
          <a:blip r:embed="rId12"/>
          <a:srcRect l="7083" r="7083"/>
          <a:stretch>
            <a:fillRect/>
          </a:stretch>
        </p:blipFill>
        <p:spPr>
          <a:xfrm>
            <a:off x="9125712" y="4361688"/>
            <a:ext cx="658368" cy="438912"/>
          </a:xfrm>
          <a:prstGeom prst="rect">
            <a:avLst/>
          </a:prstGeom>
        </p:spPr>
      </p:pic>
      <p:sp>
        <p:nvSpPr>
          <p:cNvPr id="264" name="FRAME_chip_execution_clean_t10"/>
          <p:cNvSpPr/>
          <p:nvPr/>
        </p:nvSpPr>
        <p:spPr>
          <a:xfrm>
            <a:off x="9125712" y="4361688"/>
            <a:ext cx="658368" cy="438912"/>
          </a:xfrm>
          <a:prstGeom prst="rect">
            <a:avLst/>
          </a:prstGeom>
          <a:noFill/>
          <a:ln w="698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XT_execute &amp; replan"/>
          <p:cNvSpPr txBox="1"/>
          <p:nvPr/>
        </p:nvSpPr>
        <p:spPr>
          <a:xfrm>
            <a:off x="8348472" y="4828032"/>
            <a:ext cx="1335024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40" b="1">
                <a:solidFill>
                  <a:srgbClr val="347B45"/>
                </a:solidFill>
                <a:latin typeface="Arial"/>
              </a:rPr>
              <a:t>execute &amp; replan</a:t>
            </a:r>
          </a:p>
        </p:txBody>
      </p:sp>
      <p:sp>
        <p:nvSpPr>
          <p:cNvPr id="266" name="BOX_module"/>
          <p:cNvSpPr/>
          <p:nvPr/>
        </p:nvSpPr>
        <p:spPr>
          <a:xfrm>
            <a:off x="2121408" y="3447288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BOX_module"/>
          <p:cNvSpPr/>
          <p:nvPr/>
        </p:nvSpPr>
        <p:spPr>
          <a:xfrm>
            <a:off x="2244852" y="3447288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BOX_module"/>
          <p:cNvSpPr/>
          <p:nvPr/>
        </p:nvSpPr>
        <p:spPr>
          <a:xfrm>
            <a:off x="2368296" y="3447288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BOX_module"/>
          <p:cNvSpPr/>
          <p:nvPr/>
        </p:nvSpPr>
        <p:spPr>
          <a:xfrm>
            <a:off x="2487168" y="3392424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BOX_module"/>
          <p:cNvSpPr/>
          <p:nvPr/>
        </p:nvSpPr>
        <p:spPr>
          <a:xfrm>
            <a:off x="2546604" y="3392424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BOX_module"/>
          <p:cNvSpPr/>
          <p:nvPr/>
        </p:nvSpPr>
        <p:spPr>
          <a:xfrm>
            <a:off x="2606040" y="3392424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BOX_module"/>
          <p:cNvSpPr/>
          <p:nvPr/>
        </p:nvSpPr>
        <p:spPr>
          <a:xfrm>
            <a:off x="2487168" y="3451860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BOX_module"/>
          <p:cNvSpPr/>
          <p:nvPr/>
        </p:nvSpPr>
        <p:spPr>
          <a:xfrm>
            <a:off x="2546604" y="3451860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BOX_module"/>
          <p:cNvSpPr/>
          <p:nvPr/>
        </p:nvSpPr>
        <p:spPr>
          <a:xfrm>
            <a:off x="2606040" y="3451860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BOX_module"/>
          <p:cNvSpPr/>
          <p:nvPr/>
        </p:nvSpPr>
        <p:spPr>
          <a:xfrm>
            <a:off x="2487168" y="3511296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BOX_module"/>
          <p:cNvSpPr/>
          <p:nvPr/>
        </p:nvSpPr>
        <p:spPr>
          <a:xfrm>
            <a:off x="2546604" y="3511296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BOX_module"/>
          <p:cNvSpPr/>
          <p:nvPr/>
        </p:nvSpPr>
        <p:spPr>
          <a:xfrm>
            <a:off x="2606040" y="3511296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XT_Obs. context"/>
          <p:cNvSpPr txBox="1"/>
          <p:nvPr/>
        </p:nvSpPr>
        <p:spPr>
          <a:xfrm>
            <a:off x="1993392" y="3218688"/>
            <a:ext cx="777240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10" b="1">
                <a:solidFill>
                  <a:srgbClr val="35689F"/>
                </a:solidFill>
                <a:latin typeface="Arial"/>
              </a:rPr>
              <a:t>Obs. context</a:t>
            </a:r>
          </a:p>
        </p:txBody>
      </p:sp>
      <p:sp>
        <p:nvSpPr>
          <p:cNvPr id="279" name="BOX_Denoiser"/>
          <p:cNvSpPr/>
          <p:nvPr/>
        </p:nvSpPr>
        <p:spPr>
          <a:xfrm>
            <a:off x="2999232" y="3383280"/>
            <a:ext cx="658368" cy="429768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00" b="1">
                <a:solidFill>
                  <a:srgbClr val="172B3A"/>
                </a:solidFill>
                <a:latin typeface="Arial"/>
              </a:rPr>
              <a:t>Denoiser</a:t>
            </a:r>
          </a:p>
        </p:txBody>
      </p:sp>
      <p:cxnSp>
        <p:nvCxnSpPr>
          <p:cNvPr id="280" name="FLOW_connector"/>
          <p:cNvCxnSpPr/>
          <p:nvPr/>
        </p:nvCxnSpPr>
        <p:spPr>
          <a:xfrm flipV="1">
            <a:off x="3570274" y="3323386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FLOW_connector"/>
          <p:cNvCxnSpPr/>
          <p:nvPr/>
        </p:nvCxnSpPr>
        <p:spPr>
          <a:xfrm>
            <a:off x="3570274" y="3323386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FLOW_connector"/>
          <p:cNvCxnSpPr/>
          <p:nvPr/>
        </p:nvCxnSpPr>
        <p:spPr>
          <a:xfrm>
            <a:off x="3608679" y="3323386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BOX_module"/>
          <p:cNvSpPr/>
          <p:nvPr/>
        </p:nvSpPr>
        <p:spPr>
          <a:xfrm>
            <a:off x="3547872" y="3352190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4" name="FLOW_connector"/>
          <p:cNvCxnSpPr/>
          <p:nvPr/>
        </p:nvCxnSpPr>
        <p:spPr>
          <a:xfrm flipV="1">
            <a:off x="2414016" y="4041648"/>
            <a:ext cx="0" cy="45720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FLOW_connector"/>
          <p:cNvCxnSpPr/>
          <p:nvPr/>
        </p:nvCxnSpPr>
        <p:spPr>
          <a:xfrm>
            <a:off x="2414016" y="4041648"/>
            <a:ext cx="786384" cy="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FLOW_connector"/>
          <p:cNvCxnSpPr/>
          <p:nvPr/>
        </p:nvCxnSpPr>
        <p:spPr>
          <a:xfrm flipV="1">
            <a:off x="3200400" y="3813048"/>
            <a:ext cx="0" cy="228600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FLOW_connector"/>
          <p:cNvCxnSpPr/>
          <p:nvPr/>
        </p:nvCxnSpPr>
        <p:spPr>
          <a:xfrm>
            <a:off x="2743200" y="3547872"/>
            <a:ext cx="256032" cy="54864"/>
          </a:xfrm>
          <a:prstGeom prst="line">
            <a:avLst/>
          </a:prstGeom>
          <a:ln w="1143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BOX_module"/>
          <p:cNvSpPr/>
          <p:nvPr/>
        </p:nvSpPr>
        <p:spPr>
          <a:xfrm>
            <a:off x="3822191" y="3511296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BOX_module"/>
          <p:cNvSpPr/>
          <p:nvPr/>
        </p:nvSpPr>
        <p:spPr>
          <a:xfrm>
            <a:off x="3954779" y="3511296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BOX_module"/>
          <p:cNvSpPr/>
          <p:nvPr/>
        </p:nvSpPr>
        <p:spPr>
          <a:xfrm>
            <a:off x="4087368" y="3511296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BOX_module"/>
          <p:cNvSpPr/>
          <p:nvPr/>
        </p:nvSpPr>
        <p:spPr>
          <a:xfrm>
            <a:off x="4219955" y="3511296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XT_Clean action estimate"/>
          <p:cNvSpPr txBox="1"/>
          <p:nvPr/>
        </p:nvSpPr>
        <p:spPr>
          <a:xfrm>
            <a:off x="3703320" y="3282696"/>
            <a:ext cx="868680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10" b="1">
                <a:solidFill>
                  <a:srgbClr val="B96425"/>
                </a:solidFill>
                <a:latin typeface="Arial"/>
              </a:rPr>
              <a:t>Clean action estimate</a:t>
            </a:r>
          </a:p>
        </p:txBody>
      </p:sp>
      <p:cxnSp>
        <p:nvCxnSpPr>
          <p:cNvPr id="293" name="FLOW_connector"/>
          <p:cNvCxnSpPr/>
          <p:nvPr/>
        </p:nvCxnSpPr>
        <p:spPr>
          <a:xfrm>
            <a:off x="3657600" y="3602736"/>
            <a:ext cx="146304" cy="0"/>
          </a:xfrm>
          <a:prstGeom prst="line">
            <a:avLst/>
          </a:prstGeom>
          <a:ln w="1270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BOX_Foresight"/>
          <p:cNvSpPr/>
          <p:nvPr/>
        </p:nvSpPr>
        <p:spPr>
          <a:xfrm>
            <a:off x="4453128" y="3383280"/>
            <a:ext cx="658368" cy="429768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00" b="1">
                <a:solidFill>
                  <a:srgbClr val="172B3A"/>
                </a:solidFill>
                <a:latin typeface="Arial"/>
              </a:rPr>
              <a:t>Foresight</a:t>
            </a:r>
          </a:p>
        </p:txBody>
      </p:sp>
      <p:cxnSp>
        <p:nvCxnSpPr>
          <p:cNvPr id="295" name="FLOW_connector"/>
          <p:cNvCxnSpPr/>
          <p:nvPr/>
        </p:nvCxnSpPr>
        <p:spPr>
          <a:xfrm flipV="1">
            <a:off x="5024170" y="3323386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FLOW_connector"/>
          <p:cNvCxnSpPr/>
          <p:nvPr/>
        </p:nvCxnSpPr>
        <p:spPr>
          <a:xfrm>
            <a:off x="5024170" y="3323386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FLOW_connector"/>
          <p:cNvCxnSpPr/>
          <p:nvPr/>
        </p:nvCxnSpPr>
        <p:spPr>
          <a:xfrm>
            <a:off x="5062575" y="3323386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BOX_module"/>
          <p:cNvSpPr/>
          <p:nvPr/>
        </p:nvSpPr>
        <p:spPr>
          <a:xfrm>
            <a:off x="5001768" y="3352190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9" name="FLOW_connector"/>
          <p:cNvCxnSpPr/>
          <p:nvPr/>
        </p:nvCxnSpPr>
        <p:spPr>
          <a:xfrm>
            <a:off x="4352544" y="3602736"/>
            <a:ext cx="100584" cy="0"/>
          </a:xfrm>
          <a:prstGeom prst="line">
            <a:avLst/>
          </a:prstGeom>
          <a:ln w="1270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FLOW_connector"/>
          <p:cNvCxnSpPr/>
          <p:nvPr/>
        </p:nvCxnSpPr>
        <p:spPr>
          <a:xfrm>
            <a:off x="2724912" y="3547872"/>
            <a:ext cx="109728" cy="0"/>
          </a:xfrm>
          <a:prstGeom prst="line">
            <a:avLst/>
          </a:prstGeom>
          <a:ln w="1016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FLOW_connector"/>
          <p:cNvCxnSpPr/>
          <p:nvPr/>
        </p:nvCxnSpPr>
        <p:spPr>
          <a:xfrm flipV="1">
            <a:off x="2834640" y="3182112"/>
            <a:ext cx="0" cy="365760"/>
          </a:xfrm>
          <a:prstGeom prst="line">
            <a:avLst/>
          </a:prstGeom>
          <a:ln w="1016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FLOW_connector"/>
          <p:cNvCxnSpPr/>
          <p:nvPr/>
        </p:nvCxnSpPr>
        <p:spPr>
          <a:xfrm>
            <a:off x="2834640" y="3182112"/>
            <a:ext cx="1947672" cy="0"/>
          </a:xfrm>
          <a:prstGeom prst="line">
            <a:avLst/>
          </a:prstGeom>
          <a:ln w="1016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FLOW_connector"/>
          <p:cNvCxnSpPr/>
          <p:nvPr/>
        </p:nvCxnSpPr>
        <p:spPr>
          <a:xfrm>
            <a:off x="4782312" y="3182112"/>
            <a:ext cx="0" cy="201168"/>
          </a:xfrm>
          <a:prstGeom prst="line">
            <a:avLst/>
          </a:prstGeom>
          <a:ln w="1016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4" name="IMG_foresight_pred_h1" descr="foresight_pred_h1.png"/>
          <p:cNvPicPr>
            <a:picLocks noChangeAspect="1"/>
          </p:cNvPicPr>
          <p:nvPr/>
        </p:nvPicPr>
        <p:blipFill>
          <a:blip r:embed="rId8"/>
          <a:srcRect l="1103" r="1103"/>
          <a:stretch>
            <a:fillRect/>
          </a:stretch>
        </p:blipFill>
        <p:spPr>
          <a:xfrm>
            <a:off x="5285232" y="3392424"/>
            <a:ext cx="365760" cy="365760"/>
          </a:xfrm>
          <a:prstGeom prst="rect">
            <a:avLst/>
          </a:prstGeom>
        </p:spPr>
      </p:pic>
      <p:sp>
        <p:nvSpPr>
          <p:cNvPr id="305" name="FRAME_foresight_pred_h1"/>
          <p:cNvSpPr/>
          <p:nvPr/>
        </p:nvSpPr>
        <p:spPr>
          <a:xfrm>
            <a:off x="5285232" y="3392424"/>
            <a:ext cx="365760" cy="365760"/>
          </a:xfrm>
          <a:prstGeom prst="rect">
            <a:avLst/>
          </a:prstGeom>
          <a:noFill/>
          <a:ln w="635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6" name="IMG_foresight_pred_h8" descr="foresight_pred_h8.png"/>
          <p:cNvPicPr>
            <a:picLocks noChangeAspect="1"/>
          </p:cNvPicPr>
          <p:nvPr/>
        </p:nvPicPr>
        <p:blipFill>
          <a:blip r:embed="rId9"/>
          <a:srcRect l="1103" r="1103"/>
          <a:stretch>
            <a:fillRect/>
          </a:stretch>
        </p:blipFill>
        <p:spPr>
          <a:xfrm>
            <a:off x="5705856" y="3392424"/>
            <a:ext cx="365760" cy="365760"/>
          </a:xfrm>
          <a:prstGeom prst="rect">
            <a:avLst/>
          </a:prstGeom>
        </p:spPr>
      </p:pic>
      <p:sp>
        <p:nvSpPr>
          <p:cNvPr id="307" name="FRAME_foresight_pred_h8"/>
          <p:cNvSpPr/>
          <p:nvPr/>
        </p:nvSpPr>
        <p:spPr>
          <a:xfrm>
            <a:off x="5705856" y="3392424"/>
            <a:ext cx="365760" cy="365760"/>
          </a:xfrm>
          <a:prstGeom prst="rect">
            <a:avLst/>
          </a:prstGeom>
          <a:noFill/>
          <a:ln w="635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8" name="IMG_foresight_pred_h16" descr="foresight_pred_h16.png"/>
          <p:cNvPicPr>
            <a:picLocks noChangeAspect="1"/>
          </p:cNvPicPr>
          <p:nvPr/>
        </p:nvPicPr>
        <p:blipFill>
          <a:blip r:embed="rId10"/>
          <a:srcRect l="1460" r="1460"/>
          <a:stretch>
            <a:fillRect/>
          </a:stretch>
        </p:blipFill>
        <p:spPr>
          <a:xfrm>
            <a:off x="6126480" y="3392424"/>
            <a:ext cx="365760" cy="365760"/>
          </a:xfrm>
          <a:prstGeom prst="rect">
            <a:avLst/>
          </a:prstGeom>
        </p:spPr>
      </p:pic>
      <p:sp>
        <p:nvSpPr>
          <p:cNvPr id="309" name="FRAME_foresight_pred_h16"/>
          <p:cNvSpPr/>
          <p:nvPr/>
        </p:nvSpPr>
        <p:spPr>
          <a:xfrm>
            <a:off x="6126480" y="3392424"/>
            <a:ext cx="365760" cy="365760"/>
          </a:xfrm>
          <a:prstGeom prst="rect">
            <a:avLst/>
          </a:prstGeom>
          <a:noFill/>
          <a:ln w="635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XT_Predicted tactile future"/>
          <p:cNvSpPr txBox="1"/>
          <p:nvPr/>
        </p:nvSpPr>
        <p:spPr>
          <a:xfrm>
            <a:off x="5230368" y="3182112"/>
            <a:ext cx="1280160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197B82"/>
                </a:solidFill>
                <a:latin typeface="Arial"/>
              </a:rPr>
              <a:t>Predicted tactile future</a:t>
            </a:r>
          </a:p>
        </p:txBody>
      </p:sp>
      <p:cxnSp>
        <p:nvCxnSpPr>
          <p:cNvPr id="311" name="FLOW_connector"/>
          <p:cNvCxnSpPr/>
          <p:nvPr/>
        </p:nvCxnSpPr>
        <p:spPr>
          <a:xfrm>
            <a:off x="5111496" y="3602736"/>
            <a:ext cx="155448" cy="0"/>
          </a:xfrm>
          <a:prstGeom prst="line">
            <a:avLst/>
          </a:prstGeom>
          <a:ln w="1270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BOX_module"/>
          <p:cNvSpPr/>
          <p:nvPr/>
        </p:nvSpPr>
        <p:spPr>
          <a:xfrm>
            <a:off x="6620256" y="3410712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BOX_module"/>
          <p:cNvSpPr/>
          <p:nvPr/>
        </p:nvSpPr>
        <p:spPr>
          <a:xfrm>
            <a:off x="6729984" y="3410712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BOX_module"/>
          <p:cNvSpPr/>
          <p:nvPr/>
        </p:nvSpPr>
        <p:spPr>
          <a:xfrm>
            <a:off x="6839712" y="3410712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BOX_module"/>
          <p:cNvSpPr/>
          <p:nvPr/>
        </p:nvSpPr>
        <p:spPr>
          <a:xfrm>
            <a:off x="6949440" y="3410712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BOX_module"/>
          <p:cNvSpPr/>
          <p:nvPr/>
        </p:nvSpPr>
        <p:spPr>
          <a:xfrm>
            <a:off x="6620256" y="3657600"/>
            <a:ext cx="91440" cy="91440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BOX_module"/>
          <p:cNvSpPr/>
          <p:nvPr/>
        </p:nvSpPr>
        <p:spPr>
          <a:xfrm>
            <a:off x="6729984" y="3657600"/>
            <a:ext cx="91440" cy="91440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BOX_module"/>
          <p:cNvSpPr/>
          <p:nvPr/>
        </p:nvSpPr>
        <p:spPr>
          <a:xfrm>
            <a:off x="6839712" y="3657600"/>
            <a:ext cx="91440" cy="91440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BOX_module"/>
          <p:cNvSpPr/>
          <p:nvPr/>
        </p:nvSpPr>
        <p:spPr>
          <a:xfrm>
            <a:off x="6949440" y="3657600"/>
            <a:ext cx="91440" cy="91440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0" name="FLOW_connector"/>
          <p:cNvCxnSpPr/>
          <p:nvPr/>
        </p:nvCxnSpPr>
        <p:spPr>
          <a:xfrm>
            <a:off x="6473952" y="3602736"/>
            <a:ext cx="128016" cy="100584"/>
          </a:xfrm>
          <a:prstGeom prst="line">
            <a:avLst/>
          </a:prstGeom>
          <a:ln w="1016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FLOW_connector"/>
          <p:cNvCxnSpPr/>
          <p:nvPr/>
        </p:nvCxnSpPr>
        <p:spPr>
          <a:xfrm>
            <a:off x="4087368" y="3712463"/>
            <a:ext cx="0" cy="201169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FLOW_connector"/>
          <p:cNvCxnSpPr/>
          <p:nvPr/>
        </p:nvCxnSpPr>
        <p:spPr>
          <a:xfrm>
            <a:off x="4087368" y="3913632"/>
            <a:ext cx="2423160" cy="0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FLOW_connector"/>
          <p:cNvCxnSpPr/>
          <p:nvPr/>
        </p:nvCxnSpPr>
        <p:spPr>
          <a:xfrm flipV="1">
            <a:off x="6510528" y="3456432"/>
            <a:ext cx="0" cy="457200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FLOW_connector"/>
          <p:cNvCxnSpPr/>
          <p:nvPr/>
        </p:nvCxnSpPr>
        <p:spPr>
          <a:xfrm>
            <a:off x="6510528" y="3456432"/>
            <a:ext cx="91440" cy="0"/>
          </a:xfrm>
          <a:prstGeom prst="line">
            <a:avLst/>
          </a:prstGeom>
          <a:ln w="1016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BOX_Scorer"/>
          <p:cNvSpPr/>
          <p:nvPr/>
        </p:nvSpPr>
        <p:spPr>
          <a:xfrm>
            <a:off x="7159752" y="3383280"/>
            <a:ext cx="640080" cy="429768"/>
          </a:xfrm>
          <a:prstGeom prst="roundRect">
            <a:avLst/>
          </a:prstGeom>
          <a:solidFill>
            <a:srgbClr val="F4EDD8"/>
          </a:solidFill>
          <a:ln w="11430">
            <a:solidFill>
              <a:srgbClr val="C6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00" b="1">
                <a:solidFill>
                  <a:srgbClr val="172B3A"/>
                </a:solidFill>
                <a:latin typeface="Arial"/>
              </a:rPr>
              <a:t>Scorer</a:t>
            </a:r>
          </a:p>
        </p:txBody>
      </p:sp>
      <p:cxnSp>
        <p:nvCxnSpPr>
          <p:cNvPr id="326" name="FLOW_connector"/>
          <p:cNvCxnSpPr/>
          <p:nvPr/>
        </p:nvCxnSpPr>
        <p:spPr>
          <a:xfrm flipV="1">
            <a:off x="7712506" y="3323386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FLOW_connector"/>
          <p:cNvCxnSpPr/>
          <p:nvPr/>
        </p:nvCxnSpPr>
        <p:spPr>
          <a:xfrm>
            <a:off x="7712506" y="3323386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FLOW_connector"/>
          <p:cNvCxnSpPr/>
          <p:nvPr/>
        </p:nvCxnSpPr>
        <p:spPr>
          <a:xfrm>
            <a:off x="7750911" y="3323386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BOX_module"/>
          <p:cNvSpPr/>
          <p:nvPr/>
        </p:nvSpPr>
        <p:spPr>
          <a:xfrm>
            <a:off x="7690104" y="3352190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0" name="FLOW_connector"/>
          <p:cNvCxnSpPr/>
          <p:nvPr/>
        </p:nvCxnSpPr>
        <p:spPr>
          <a:xfrm>
            <a:off x="7059168" y="3602736"/>
            <a:ext cx="100584" cy="0"/>
          </a:xfrm>
          <a:prstGeom prst="line">
            <a:avLst/>
          </a:prstGeom>
          <a:ln w="12700">
            <a:solidFill>
              <a:srgbClr val="C6A24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BOX_module"/>
          <p:cNvSpPr/>
          <p:nvPr/>
        </p:nvSpPr>
        <p:spPr>
          <a:xfrm>
            <a:off x="7973568" y="3520440"/>
            <a:ext cx="164592" cy="164592"/>
          </a:xfrm>
          <a:prstGeom prst="roundRect">
            <a:avLst/>
          </a:prstGeom>
          <a:solidFill>
            <a:srgbClr val="D85D5D"/>
          </a:solidFill>
          <a:ln w="1143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XT_low quality"/>
          <p:cNvSpPr txBox="1"/>
          <p:nvPr/>
        </p:nvSpPr>
        <p:spPr>
          <a:xfrm>
            <a:off x="8174736" y="3502152"/>
            <a:ext cx="585216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20" b="1">
                <a:solidFill>
                  <a:srgbClr val="D85D5D"/>
                </a:solidFill>
                <a:latin typeface="Arial"/>
              </a:rPr>
              <a:t>low quality</a:t>
            </a:r>
          </a:p>
        </p:txBody>
      </p:sp>
      <p:cxnSp>
        <p:nvCxnSpPr>
          <p:cNvPr id="333" name="FLOW_connector"/>
          <p:cNvCxnSpPr/>
          <p:nvPr/>
        </p:nvCxnSpPr>
        <p:spPr>
          <a:xfrm>
            <a:off x="7799831" y="3602736"/>
            <a:ext cx="155448" cy="0"/>
          </a:xfrm>
          <a:prstGeom prst="line">
            <a:avLst/>
          </a:prstGeom>
          <a:ln w="12700">
            <a:solidFill>
              <a:srgbClr val="D85D5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FLOW_connector"/>
          <p:cNvCxnSpPr/>
          <p:nvPr/>
        </p:nvCxnSpPr>
        <p:spPr>
          <a:xfrm>
            <a:off x="8065008" y="3694176"/>
            <a:ext cx="0" cy="466344"/>
          </a:xfrm>
          <a:prstGeom prst="line">
            <a:avLst/>
          </a:prstGeom>
          <a:ln w="15875">
            <a:solidFill>
              <a:srgbClr val="E78A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FLOW_connector"/>
          <p:cNvCxnSpPr/>
          <p:nvPr/>
        </p:nvCxnSpPr>
        <p:spPr>
          <a:xfrm flipH="1">
            <a:off x="2414016" y="4160520"/>
            <a:ext cx="5650992" cy="0"/>
          </a:xfrm>
          <a:prstGeom prst="line">
            <a:avLst/>
          </a:prstGeom>
          <a:ln w="15875">
            <a:solidFill>
              <a:srgbClr val="E78A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FLOW_connector"/>
          <p:cNvCxnSpPr/>
          <p:nvPr/>
        </p:nvCxnSpPr>
        <p:spPr>
          <a:xfrm>
            <a:off x="2414016" y="4160520"/>
            <a:ext cx="0" cy="329184"/>
          </a:xfrm>
          <a:prstGeom prst="line">
            <a:avLst/>
          </a:prstGeom>
          <a:ln w="15875">
            <a:solidFill>
              <a:srgbClr val="E78A3D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TXT_quality gradient"/>
          <p:cNvSpPr txBox="1"/>
          <p:nvPr/>
        </p:nvSpPr>
        <p:spPr>
          <a:xfrm>
            <a:off x="6976872" y="4187952"/>
            <a:ext cx="82296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B96425"/>
                </a:solidFill>
                <a:latin typeface="Arial"/>
              </a:rPr>
              <a:t>quality gradient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G_Generated Image August 1" descr="Generated Image August 12, 2026 - 4_10PM (1).jpg"/>
          <p:cNvPicPr>
            <a:picLocks noChangeAspect="1"/>
          </p:cNvPicPr>
          <p:nvPr/>
        </p:nvPicPr>
        <p:blipFill>
          <a:blip r:embed="rId2"/>
          <a:srcRect l="5" r="5"/>
          <a:stretch>
            <a:fillRect/>
          </a:stretch>
        </p:blipFill>
        <p:spPr>
          <a:xfrm>
            <a:off x="0" y="0"/>
            <a:ext cx="12191695" cy="5172760"/>
          </a:xfrm>
          <a:prstGeom prst="rect">
            <a:avLst/>
          </a:prstGeom>
        </p:spPr>
      </p:pic>
      <p:sp>
        <p:nvSpPr>
          <p:cNvPr id="3" name="FRAME_Generated Image August 1"/>
          <p:cNvSpPr/>
          <p:nvPr/>
        </p:nvSpPr>
        <p:spPr>
          <a:xfrm>
            <a:off x="0" y="0"/>
            <a:ext cx="12191695" cy="5172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