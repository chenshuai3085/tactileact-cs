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172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XT_OFFLINE MODEL LEARNING"/>
          <p:cNvSpPr txBox="1"/>
          <p:nvPr/>
        </p:nvSpPr>
        <p:spPr>
          <a:xfrm>
            <a:off x="164592" y="73152"/>
            <a:ext cx="274320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080" b="1">
                <a:solidFill>
                  <a:srgbClr val="172B3A"/>
                </a:solidFill>
                <a:latin typeface="Arial"/>
              </a:rPr>
              <a:t>OFFLINE MODEL LEARNING</a:t>
            </a:r>
          </a:p>
        </p:txBody>
      </p:sp>
      <p:cxnSp>
        <p:nvCxnSpPr>
          <p:cNvPr id="3" name="FLOW_connector"/>
          <p:cNvCxnSpPr/>
          <p:nvPr/>
        </p:nvCxnSpPr>
        <p:spPr>
          <a:xfrm>
            <a:off x="3493008" y="402336"/>
            <a:ext cx="0" cy="2450592"/>
          </a:xfrm>
          <a:prstGeom prst="line">
            <a:avLst/>
          </a:prstGeom>
          <a:ln w="8890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FLOW_connector"/>
          <p:cNvCxnSpPr/>
          <p:nvPr/>
        </p:nvCxnSpPr>
        <p:spPr>
          <a:xfrm>
            <a:off x="9253728" y="402336"/>
            <a:ext cx="0" cy="2450592"/>
          </a:xfrm>
          <a:prstGeom prst="line">
            <a:avLst/>
          </a:prstGeom>
          <a:ln w="8890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LOW_connector"/>
          <p:cNvCxnSpPr/>
          <p:nvPr/>
        </p:nvCxnSpPr>
        <p:spPr>
          <a:xfrm>
            <a:off x="137160" y="2862072"/>
            <a:ext cx="11914632" cy="0"/>
          </a:xfrm>
          <a:prstGeom prst="line">
            <a:avLst/>
          </a:prstGeom>
          <a:ln w="11430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XT_(a) TacVAE Pretraining"/>
          <p:cNvSpPr txBox="1"/>
          <p:nvPr/>
        </p:nvSpPr>
        <p:spPr>
          <a:xfrm>
            <a:off x="164592" y="429768"/>
            <a:ext cx="31821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(a) TacVAE Pretraining</a:t>
            </a:r>
          </a:p>
        </p:txBody>
      </p:sp>
      <p:pic>
        <p:nvPicPr>
          <p:cNvPr id="7" name="IMG_chip_ep01_f0140_left_rdp" descr="chip_ep01_f0140_left_rd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932688"/>
            <a:ext cx="658368" cy="658368"/>
          </a:xfrm>
          <a:prstGeom prst="rect">
            <a:avLst/>
          </a:prstGeom>
        </p:spPr>
      </p:pic>
      <p:sp>
        <p:nvSpPr>
          <p:cNvPr id="8" name="FRAME_chip_ep01_f0140_left_rdp"/>
          <p:cNvSpPr/>
          <p:nvPr/>
        </p:nvSpPr>
        <p:spPr>
          <a:xfrm>
            <a:off x="228600" y="932688"/>
            <a:ext cx="658368" cy="658368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MG_chip_ep01_f0163_left_rdp" descr="chip_ep01_f0163_left_rd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608" y="882396"/>
            <a:ext cx="658368" cy="658368"/>
          </a:xfrm>
          <a:prstGeom prst="rect">
            <a:avLst/>
          </a:prstGeom>
        </p:spPr>
      </p:pic>
      <p:sp>
        <p:nvSpPr>
          <p:cNvPr id="10" name="FRAME_chip_ep01_f0163_left_rdp"/>
          <p:cNvSpPr/>
          <p:nvPr/>
        </p:nvSpPr>
        <p:spPr>
          <a:xfrm>
            <a:off x="292608" y="882396"/>
            <a:ext cx="658368" cy="658368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G_chip_ep01_f0187_left_rdp" descr="chip_ep01_f0187_left_rd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6616" y="832104"/>
            <a:ext cx="658368" cy="658368"/>
          </a:xfrm>
          <a:prstGeom prst="rect">
            <a:avLst/>
          </a:prstGeom>
        </p:spPr>
      </p:pic>
      <p:sp>
        <p:nvSpPr>
          <p:cNvPr id="12" name="FRAME_chip_ep01_f0187_left_rdp"/>
          <p:cNvSpPr/>
          <p:nvPr/>
        </p:nvSpPr>
        <p:spPr>
          <a:xfrm>
            <a:off x="356616" y="832104"/>
            <a:ext cx="658368" cy="658368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Marker history"/>
          <p:cNvSpPr txBox="1"/>
          <p:nvPr/>
        </p:nvSpPr>
        <p:spPr>
          <a:xfrm>
            <a:off x="182880" y="1600200"/>
            <a:ext cx="82296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0">
                <a:solidFill>
                  <a:srgbClr val="657487"/>
                </a:solidFill>
                <a:latin typeface="Arial"/>
              </a:rPr>
              <a:t>Marker history</a:t>
            </a:r>
          </a:p>
        </p:txBody>
      </p:sp>
      <p:cxnSp>
        <p:nvCxnSpPr>
          <p:cNvPr id="14" name="FLOW_connector"/>
          <p:cNvCxnSpPr/>
          <p:nvPr/>
        </p:nvCxnSpPr>
        <p:spPr>
          <a:xfrm>
            <a:off x="941832" y="1252728"/>
            <a:ext cx="137160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BOX_Tactile_Encoder"/>
          <p:cNvSpPr/>
          <p:nvPr/>
        </p:nvSpPr>
        <p:spPr>
          <a:xfrm>
            <a:off x="1078992" y="1005840"/>
            <a:ext cx="548640" cy="512064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Tactile
Encoder</a:t>
            </a:r>
          </a:p>
        </p:txBody>
      </p:sp>
      <p:cxnSp>
        <p:nvCxnSpPr>
          <p:cNvPr id="16" name="FLOW_connector"/>
          <p:cNvCxnSpPr/>
          <p:nvPr/>
        </p:nvCxnSpPr>
        <p:spPr>
          <a:xfrm flipV="1">
            <a:off x="1543507" y="940003"/>
            <a:ext cx="0" cy="40233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_connector"/>
          <p:cNvCxnSpPr/>
          <p:nvPr/>
        </p:nvCxnSpPr>
        <p:spPr>
          <a:xfrm>
            <a:off x="1543507" y="940003"/>
            <a:ext cx="43891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_connector"/>
          <p:cNvCxnSpPr/>
          <p:nvPr/>
        </p:nvCxnSpPr>
        <p:spPr>
          <a:xfrm>
            <a:off x="1587398" y="940003"/>
            <a:ext cx="0" cy="40233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X_module"/>
          <p:cNvSpPr/>
          <p:nvPr/>
        </p:nvSpPr>
        <p:spPr>
          <a:xfrm>
            <a:off x="1517904" y="972921"/>
            <a:ext cx="95097" cy="80467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FLOW_connector"/>
          <p:cNvCxnSpPr/>
          <p:nvPr/>
        </p:nvCxnSpPr>
        <p:spPr>
          <a:xfrm>
            <a:off x="1627632" y="1252728"/>
            <a:ext cx="128016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X_mu"/>
          <p:cNvSpPr/>
          <p:nvPr/>
        </p:nvSpPr>
        <p:spPr>
          <a:xfrm>
            <a:off x="1755648" y="969264"/>
            <a:ext cx="393192" cy="246888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20" b="1">
                <a:solidFill>
                  <a:srgbClr val="172B3A"/>
                </a:solidFill>
                <a:latin typeface="Arial"/>
              </a:rPr>
              <a:t>mu</a:t>
            </a:r>
          </a:p>
        </p:txBody>
      </p:sp>
      <p:sp>
        <p:nvSpPr>
          <p:cNvPr id="22" name="BOX_log var"/>
          <p:cNvSpPr/>
          <p:nvPr/>
        </p:nvSpPr>
        <p:spPr>
          <a:xfrm>
            <a:off x="1755648" y="1316736"/>
            <a:ext cx="393192" cy="246888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30" b="1">
                <a:solidFill>
                  <a:srgbClr val="172B3A"/>
                </a:solidFill>
                <a:latin typeface="Arial"/>
              </a:rPr>
              <a:t>log var</a:t>
            </a:r>
          </a:p>
        </p:txBody>
      </p:sp>
      <p:cxnSp>
        <p:nvCxnSpPr>
          <p:cNvPr id="23" name="FLOW_connector"/>
          <p:cNvCxnSpPr/>
          <p:nvPr/>
        </p:nvCxnSpPr>
        <p:spPr>
          <a:xfrm>
            <a:off x="2148840" y="1097280"/>
            <a:ext cx="118872" cy="146304"/>
          </a:xfrm>
          <a:prstGeom prst="line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_connector"/>
          <p:cNvCxnSpPr/>
          <p:nvPr/>
        </p:nvCxnSpPr>
        <p:spPr>
          <a:xfrm flipV="1">
            <a:off x="2148840" y="1280160"/>
            <a:ext cx="118872" cy="164592"/>
          </a:xfrm>
          <a:prstGeom prst="line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_~"/>
          <p:cNvSpPr/>
          <p:nvPr/>
        </p:nvSpPr>
        <p:spPr>
          <a:xfrm>
            <a:off x="2240280" y="1161288"/>
            <a:ext cx="182880" cy="182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800" b="1">
                <a:solidFill>
                  <a:srgbClr val="172B3A"/>
                </a:solidFill>
                <a:latin typeface="Arial"/>
              </a:rPr>
              <a:t>~</a:t>
            </a:r>
          </a:p>
        </p:txBody>
      </p:sp>
      <p:cxnSp>
        <p:nvCxnSpPr>
          <p:cNvPr id="26" name="FLOW_connector"/>
          <p:cNvCxnSpPr/>
          <p:nvPr/>
        </p:nvCxnSpPr>
        <p:spPr>
          <a:xfrm>
            <a:off x="2423160" y="1252728"/>
            <a:ext cx="109728" cy="0"/>
          </a:xfrm>
          <a:prstGeom prst="line">
            <a:avLst/>
          </a:prstGeom>
          <a:ln w="1397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X_module"/>
          <p:cNvSpPr/>
          <p:nvPr/>
        </p:nvSpPr>
        <p:spPr>
          <a:xfrm>
            <a:off x="2532888" y="1124712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X_module"/>
          <p:cNvSpPr/>
          <p:nvPr/>
        </p:nvSpPr>
        <p:spPr>
          <a:xfrm>
            <a:off x="2619756" y="1124712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X_module"/>
          <p:cNvSpPr/>
          <p:nvPr/>
        </p:nvSpPr>
        <p:spPr>
          <a:xfrm>
            <a:off x="2706624" y="1124712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X_module"/>
          <p:cNvSpPr/>
          <p:nvPr/>
        </p:nvSpPr>
        <p:spPr>
          <a:xfrm>
            <a:off x="2532888" y="1211580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X_module"/>
          <p:cNvSpPr/>
          <p:nvPr/>
        </p:nvSpPr>
        <p:spPr>
          <a:xfrm>
            <a:off x="2619756" y="1211580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X_module"/>
          <p:cNvSpPr/>
          <p:nvPr/>
        </p:nvSpPr>
        <p:spPr>
          <a:xfrm>
            <a:off x="2706624" y="1211580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X_module"/>
          <p:cNvSpPr/>
          <p:nvPr/>
        </p:nvSpPr>
        <p:spPr>
          <a:xfrm>
            <a:off x="2532888" y="1298448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X_module"/>
          <p:cNvSpPr/>
          <p:nvPr/>
        </p:nvSpPr>
        <p:spPr>
          <a:xfrm>
            <a:off x="2619756" y="1298448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X_module"/>
          <p:cNvSpPr/>
          <p:nvPr/>
        </p:nvSpPr>
        <p:spPr>
          <a:xfrm>
            <a:off x="2706624" y="1298448"/>
            <a:ext cx="79552" cy="79552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XT_Spatial latent"/>
          <p:cNvSpPr txBox="1"/>
          <p:nvPr/>
        </p:nvSpPr>
        <p:spPr>
          <a:xfrm>
            <a:off x="2441448" y="1453896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0">
                <a:solidFill>
                  <a:srgbClr val="657487"/>
                </a:solidFill>
                <a:latin typeface="Arial"/>
              </a:rPr>
              <a:t>Spatial latent</a:t>
            </a:r>
          </a:p>
        </p:txBody>
      </p:sp>
      <p:cxnSp>
        <p:nvCxnSpPr>
          <p:cNvPr id="37" name="FLOW_connector"/>
          <p:cNvCxnSpPr/>
          <p:nvPr/>
        </p:nvCxnSpPr>
        <p:spPr>
          <a:xfrm>
            <a:off x="2788920" y="1252728"/>
            <a:ext cx="109728" cy="0"/>
          </a:xfrm>
          <a:prstGeom prst="line">
            <a:avLst/>
          </a:prstGeom>
          <a:ln w="1397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BOX_Marker_Decoder"/>
          <p:cNvSpPr/>
          <p:nvPr/>
        </p:nvSpPr>
        <p:spPr>
          <a:xfrm>
            <a:off x="2898648" y="1005840"/>
            <a:ext cx="502920" cy="512064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80" b="1">
                <a:solidFill>
                  <a:srgbClr val="172B3A"/>
                </a:solidFill>
                <a:latin typeface="Arial"/>
              </a:rPr>
              <a:t>Marker
Decoder</a:t>
            </a:r>
          </a:p>
        </p:txBody>
      </p:sp>
      <p:pic>
        <p:nvPicPr>
          <p:cNvPr id="39" name="IMG_tacvae_real_reconstructi" descr="tacvae_real_reconstruction.png"/>
          <p:cNvPicPr>
            <a:picLocks noChangeAspect="1"/>
          </p:cNvPicPr>
          <p:nvPr/>
        </p:nvPicPr>
        <p:blipFill>
          <a:blip r:embed="rId5"/>
          <a:srcRect l="3155" r="3155"/>
          <a:stretch>
            <a:fillRect/>
          </a:stretch>
        </p:blipFill>
        <p:spPr>
          <a:xfrm>
            <a:off x="2679192" y="1755648"/>
            <a:ext cx="658368" cy="658368"/>
          </a:xfrm>
          <a:prstGeom prst="rect">
            <a:avLst/>
          </a:prstGeom>
        </p:spPr>
      </p:pic>
      <p:sp>
        <p:nvSpPr>
          <p:cNvPr id="40" name="FRAME_tacvae_real_reconstructi"/>
          <p:cNvSpPr/>
          <p:nvPr/>
        </p:nvSpPr>
        <p:spPr>
          <a:xfrm>
            <a:off x="2679192" y="1755648"/>
            <a:ext cx="658368" cy="658368"/>
          </a:xfrm>
          <a:prstGeom prst="rect">
            <a:avLst/>
          </a:prstGeom>
          <a:noFill/>
          <a:ln w="698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XT_Reconstruction"/>
          <p:cNvSpPr txBox="1"/>
          <p:nvPr/>
        </p:nvSpPr>
        <p:spPr>
          <a:xfrm>
            <a:off x="2578608" y="2423160"/>
            <a:ext cx="86868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0">
                <a:solidFill>
                  <a:srgbClr val="657487"/>
                </a:solidFill>
                <a:latin typeface="Arial"/>
              </a:rPr>
              <a:t>Reconstruction</a:t>
            </a:r>
          </a:p>
        </p:txBody>
      </p:sp>
      <p:cxnSp>
        <p:nvCxnSpPr>
          <p:cNvPr id="42" name="FLOW_connector"/>
          <p:cNvCxnSpPr/>
          <p:nvPr/>
        </p:nvCxnSpPr>
        <p:spPr>
          <a:xfrm>
            <a:off x="3154680" y="1517904"/>
            <a:ext cx="0" cy="146304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FLOW_connector"/>
          <p:cNvCxnSpPr/>
          <p:nvPr/>
        </p:nvCxnSpPr>
        <p:spPr>
          <a:xfrm flipH="1">
            <a:off x="3008376" y="1664208"/>
            <a:ext cx="146304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FLOW_connector"/>
          <p:cNvCxnSpPr/>
          <p:nvPr/>
        </p:nvCxnSpPr>
        <p:spPr>
          <a:xfrm>
            <a:off x="3008376" y="1664208"/>
            <a:ext cx="0" cy="9144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FLOW_connector"/>
          <p:cNvCxnSpPr/>
          <p:nvPr/>
        </p:nvCxnSpPr>
        <p:spPr>
          <a:xfrm flipV="1">
            <a:off x="1947672" y="822960"/>
            <a:ext cx="0" cy="146304"/>
          </a:xfrm>
          <a:prstGeom prst="line">
            <a:avLst/>
          </a:prstGeom>
          <a:ln w="12700">
            <a:solidFill>
              <a:srgbClr val="2D9F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FLOW_connector"/>
          <p:cNvCxnSpPr/>
          <p:nvPr/>
        </p:nvCxnSpPr>
        <p:spPr>
          <a:xfrm>
            <a:off x="1947672" y="822960"/>
            <a:ext cx="329184" cy="0"/>
          </a:xfrm>
          <a:prstGeom prst="line">
            <a:avLst/>
          </a:prstGeom>
          <a:ln w="12700">
            <a:solidFill>
              <a:srgbClr val="2D9FA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BOX_module"/>
          <p:cNvSpPr/>
          <p:nvPr/>
        </p:nvSpPr>
        <p:spPr>
          <a:xfrm>
            <a:off x="2286000" y="758952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OX_module"/>
          <p:cNvSpPr/>
          <p:nvPr/>
        </p:nvSpPr>
        <p:spPr>
          <a:xfrm>
            <a:off x="2336292" y="758952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OX_module"/>
          <p:cNvSpPr/>
          <p:nvPr/>
        </p:nvSpPr>
        <p:spPr>
          <a:xfrm>
            <a:off x="2386584" y="758952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OX_module"/>
          <p:cNvSpPr/>
          <p:nvPr/>
        </p:nvSpPr>
        <p:spPr>
          <a:xfrm>
            <a:off x="2286000" y="809244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OX_module"/>
          <p:cNvSpPr/>
          <p:nvPr/>
        </p:nvSpPr>
        <p:spPr>
          <a:xfrm>
            <a:off x="2336292" y="809244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OX_module"/>
          <p:cNvSpPr/>
          <p:nvPr/>
        </p:nvSpPr>
        <p:spPr>
          <a:xfrm>
            <a:off x="2386584" y="809244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OX_module"/>
          <p:cNvSpPr/>
          <p:nvPr/>
        </p:nvSpPr>
        <p:spPr>
          <a:xfrm>
            <a:off x="2286000" y="859536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OX_module"/>
          <p:cNvSpPr/>
          <p:nvPr/>
        </p:nvSpPr>
        <p:spPr>
          <a:xfrm>
            <a:off x="2336292" y="859536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OX_module"/>
          <p:cNvSpPr/>
          <p:nvPr/>
        </p:nvSpPr>
        <p:spPr>
          <a:xfrm>
            <a:off x="2386584" y="859536"/>
            <a:ext cx="42976" cy="42976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XT_Deployment z_t"/>
          <p:cNvSpPr txBox="1"/>
          <p:nvPr/>
        </p:nvSpPr>
        <p:spPr>
          <a:xfrm>
            <a:off x="2468880" y="758952"/>
            <a:ext cx="7498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197B82"/>
                </a:solidFill>
                <a:latin typeface="Arial"/>
              </a:rPr>
              <a:t>Deployment z_t</a:t>
            </a:r>
          </a:p>
        </p:txBody>
      </p:sp>
      <p:sp>
        <p:nvSpPr>
          <p:cNvPr id="57" name="TXT_(b) Action-Conditioned T"/>
          <p:cNvSpPr txBox="1"/>
          <p:nvPr/>
        </p:nvSpPr>
        <p:spPr>
          <a:xfrm>
            <a:off x="3575304" y="429768"/>
            <a:ext cx="562356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(b) Action-Conditioned Tactile Foresight</a:t>
            </a:r>
          </a:p>
        </p:txBody>
      </p:sp>
      <p:pic>
        <p:nvPicPr>
          <p:cNvPr id="58" name="IMG_chip_ep01_f0160_global" descr="chip_ep01_f0160_global.png"/>
          <p:cNvPicPr>
            <a:picLocks noChangeAspect="1"/>
          </p:cNvPicPr>
          <p:nvPr/>
        </p:nvPicPr>
        <p:blipFill>
          <a:blip r:embed="rId6"/>
          <a:srcRect t="3879" b="3879"/>
          <a:stretch>
            <a:fillRect/>
          </a:stretch>
        </p:blipFill>
        <p:spPr>
          <a:xfrm>
            <a:off x="3657600" y="804672"/>
            <a:ext cx="566928" cy="393192"/>
          </a:xfrm>
          <a:prstGeom prst="rect">
            <a:avLst/>
          </a:prstGeom>
        </p:spPr>
      </p:pic>
      <p:sp>
        <p:nvSpPr>
          <p:cNvPr id="59" name="FRAME_chip_ep01_f0160_global"/>
          <p:cNvSpPr/>
          <p:nvPr/>
        </p:nvSpPr>
        <p:spPr>
          <a:xfrm>
            <a:off x="3657600" y="804672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IMG_chip_ep01_f0160_wrist" descr="chip_ep01_f0160_wrist.png"/>
          <p:cNvPicPr>
            <a:picLocks noChangeAspect="1"/>
          </p:cNvPicPr>
          <p:nvPr/>
        </p:nvPicPr>
        <p:blipFill>
          <a:blip r:embed="rId7"/>
          <a:srcRect t="3879" b="3879"/>
          <a:stretch>
            <a:fillRect/>
          </a:stretch>
        </p:blipFill>
        <p:spPr>
          <a:xfrm>
            <a:off x="3657600" y="1234440"/>
            <a:ext cx="566928" cy="393192"/>
          </a:xfrm>
          <a:prstGeom prst="rect">
            <a:avLst/>
          </a:prstGeom>
        </p:spPr>
      </p:pic>
      <p:sp>
        <p:nvSpPr>
          <p:cNvPr id="61" name="FRAME_chip_ep01_f0160_wrist"/>
          <p:cNvSpPr/>
          <p:nvPr/>
        </p:nvSpPr>
        <p:spPr>
          <a:xfrm>
            <a:off x="3657600" y="1234440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XT_Global"/>
          <p:cNvSpPr txBox="1"/>
          <p:nvPr/>
        </p:nvSpPr>
        <p:spPr>
          <a:xfrm>
            <a:off x="3675887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Global</a:t>
            </a:r>
          </a:p>
        </p:txBody>
      </p:sp>
      <p:sp>
        <p:nvSpPr>
          <p:cNvPr id="63" name="TXT_Wrist"/>
          <p:cNvSpPr txBox="1"/>
          <p:nvPr/>
        </p:nvSpPr>
        <p:spPr>
          <a:xfrm>
            <a:off x="3959352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Wrist</a:t>
            </a:r>
          </a:p>
        </p:txBody>
      </p:sp>
      <p:sp>
        <p:nvSpPr>
          <p:cNvPr id="64" name="BOX_Visual_Encoder"/>
          <p:cNvSpPr/>
          <p:nvPr/>
        </p:nvSpPr>
        <p:spPr>
          <a:xfrm>
            <a:off x="4315968" y="932688"/>
            <a:ext cx="548640" cy="50292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80" b="1">
                <a:solidFill>
                  <a:srgbClr val="172B3A"/>
                </a:solidFill>
                <a:latin typeface="Arial"/>
              </a:rPr>
              <a:t>Visual
Encoder</a:t>
            </a:r>
          </a:p>
        </p:txBody>
      </p:sp>
      <p:cxnSp>
        <p:nvCxnSpPr>
          <p:cNvPr id="65" name="FLOW_connector"/>
          <p:cNvCxnSpPr/>
          <p:nvPr/>
        </p:nvCxnSpPr>
        <p:spPr>
          <a:xfrm flipV="1">
            <a:off x="4778883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FLOW_connector"/>
          <p:cNvCxnSpPr/>
          <p:nvPr/>
        </p:nvCxnSpPr>
        <p:spPr>
          <a:xfrm>
            <a:off x="4778883" y="865251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FLOW_connector"/>
          <p:cNvCxnSpPr/>
          <p:nvPr/>
        </p:nvCxnSpPr>
        <p:spPr>
          <a:xfrm>
            <a:off x="4820031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BOX_module"/>
          <p:cNvSpPr/>
          <p:nvPr/>
        </p:nvSpPr>
        <p:spPr>
          <a:xfrm>
            <a:off x="4754880" y="896112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FLOW_connector"/>
          <p:cNvCxnSpPr/>
          <p:nvPr/>
        </p:nvCxnSpPr>
        <p:spPr>
          <a:xfrm flipV="1">
            <a:off x="4224528" y="1188720"/>
            <a:ext cx="91440" cy="27432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BOX_module"/>
          <p:cNvSpPr/>
          <p:nvPr/>
        </p:nvSpPr>
        <p:spPr>
          <a:xfrm>
            <a:off x="4937760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BOX_module"/>
          <p:cNvSpPr/>
          <p:nvPr/>
        </p:nvSpPr>
        <p:spPr>
          <a:xfrm>
            <a:off x="5061204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OX_module"/>
          <p:cNvSpPr/>
          <p:nvPr/>
        </p:nvSpPr>
        <p:spPr>
          <a:xfrm>
            <a:off x="5184648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IMG_chip_ep01_f0163_left_rdp" descr="chip_ep01_f0163_left_rd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75887" y="1764792"/>
            <a:ext cx="566928" cy="566928"/>
          </a:xfrm>
          <a:prstGeom prst="rect">
            <a:avLst/>
          </a:prstGeom>
        </p:spPr>
      </p:pic>
      <p:sp>
        <p:nvSpPr>
          <p:cNvPr id="74" name="FRAME_chip_ep01_f0163_left_rdp"/>
          <p:cNvSpPr/>
          <p:nvPr/>
        </p:nvSpPr>
        <p:spPr>
          <a:xfrm>
            <a:off x="3675887" y="1764792"/>
            <a:ext cx="566928" cy="566928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XT_Touch"/>
          <p:cNvSpPr txBox="1"/>
          <p:nvPr/>
        </p:nvSpPr>
        <p:spPr>
          <a:xfrm>
            <a:off x="3730752" y="2340864"/>
            <a:ext cx="45720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Touch</a:t>
            </a:r>
          </a:p>
        </p:txBody>
      </p:sp>
      <p:sp>
        <p:nvSpPr>
          <p:cNvPr id="76" name="BOX_TacVAE"/>
          <p:cNvSpPr/>
          <p:nvPr/>
        </p:nvSpPr>
        <p:spPr>
          <a:xfrm>
            <a:off x="4315968" y="1810512"/>
            <a:ext cx="548640" cy="438912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20" b="1">
                <a:solidFill>
                  <a:srgbClr val="172B3A"/>
                </a:solidFill>
                <a:latin typeface="Arial"/>
              </a:rPr>
              <a:t>TacVAE</a:t>
            </a:r>
          </a:p>
        </p:txBody>
      </p:sp>
      <p:cxnSp>
        <p:nvCxnSpPr>
          <p:cNvPr id="77" name="FLOW_connector"/>
          <p:cNvCxnSpPr/>
          <p:nvPr/>
        </p:nvCxnSpPr>
        <p:spPr>
          <a:xfrm flipV="1">
            <a:off x="4778883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FLOW_connector"/>
          <p:cNvCxnSpPr/>
          <p:nvPr/>
        </p:nvCxnSpPr>
        <p:spPr>
          <a:xfrm>
            <a:off x="4778883" y="1743075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FLOW_connector"/>
          <p:cNvCxnSpPr/>
          <p:nvPr/>
        </p:nvCxnSpPr>
        <p:spPr>
          <a:xfrm>
            <a:off x="4820031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BOX_module"/>
          <p:cNvSpPr/>
          <p:nvPr/>
        </p:nvSpPr>
        <p:spPr>
          <a:xfrm>
            <a:off x="4754880" y="1773936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FLOW_connector"/>
          <p:cNvCxnSpPr/>
          <p:nvPr/>
        </p:nvCxnSpPr>
        <p:spPr>
          <a:xfrm>
            <a:off x="4242816" y="2029968"/>
            <a:ext cx="73152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BOX_module"/>
          <p:cNvSpPr/>
          <p:nvPr/>
        </p:nvSpPr>
        <p:spPr>
          <a:xfrm>
            <a:off x="495604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OX_module"/>
          <p:cNvSpPr/>
          <p:nvPr/>
        </p:nvSpPr>
        <p:spPr>
          <a:xfrm>
            <a:off x="502462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OX_module"/>
          <p:cNvSpPr/>
          <p:nvPr/>
        </p:nvSpPr>
        <p:spPr>
          <a:xfrm>
            <a:off x="509320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OX_module"/>
          <p:cNvSpPr/>
          <p:nvPr/>
        </p:nvSpPr>
        <p:spPr>
          <a:xfrm>
            <a:off x="495604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BOX_module"/>
          <p:cNvSpPr/>
          <p:nvPr/>
        </p:nvSpPr>
        <p:spPr>
          <a:xfrm>
            <a:off x="502462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OX_module"/>
          <p:cNvSpPr/>
          <p:nvPr/>
        </p:nvSpPr>
        <p:spPr>
          <a:xfrm>
            <a:off x="509320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OX_module"/>
          <p:cNvSpPr/>
          <p:nvPr/>
        </p:nvSpPr>
        <p:spPr>
          <a:xfrm>
            <a:off x="495604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OX_module"/>
          <p:cNvSpPr/>
          <p:nvPr/>
        </p:nvSpPr>
        <p:spPr>
          <a:xfrm>
            <a:off x="502462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BOX_module"/>
          <p:cNvSpPr/>
          <p:nvPr/>
        </p:nvSpPr>
        <p:spPr>
          <a:xfrm>
            <a:off x="509320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BOX_module"/>
          <p:cNvSpPr/>
          <p:nvPr/>
        </p:nvSpPr>
        <p:spPr>
          <a:xfrm>
            <a:off x="3730752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OX_module"/>
          <p:cNvSpPr/>
          <p:nvPr/>
        </p:nvSpPr>
        <p:spPr>
          <a:xfrm>
            <a:off x="3835908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OX_module"/>
          <p:cNvSpPr/>
          <p:nvPr/>
        </p:nvSpPr>
        <p:spPr>
          <a:xfrm>
            <a:off x="3941064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BOX_module"/>
          <p:cNvSpPr/>
          <p:nvPr/>
        </p:nvSpPr>
        <p:spPr>
          <a:xfrm>
            <a:off x="4046220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XT_Robot state"/>
          <p:cNvSpPr txBox="1"/>
          <p:nvPr/>
        </p:nvSpPr>
        <p:spPr>
          <a:xfrm>
            <a:off x="3657600" y="2697480"/>
            <a:ext cx="53035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Robot state</a:t>
            </a:r>
          </a:p>
        </p:txBody>
      </p:sp>
      <p:sp>
        <p:nvSpPr>
          <p:cNvPr id="96" name="BOX_Projection"/>
          <p:cNvSpPr/>
          <p:nvPr/>
        </p:nvSpPr>
        <p:spPr>
          <a:xfrm>
            <a:off x="4315968" y="2532888"/>
            <a:ext cx="548640" cy="310896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20" b="1">
                <a:solidFill>
                  <a:srgbClr val="172B3A"/>
                </a:solidFill>
                <a:latin typeface="Arial"/>
              </a:rPr>
              <a:t>Projection</a:t>
            </a:r>
          </a:p>
        </p:txBody>
      </p:sp>
      <p:cxnSp>
        <p:nvCxnSpPr>
          <p:cNvPr id="97" name="FLOW_connector"/>
          <p:cNvCxnSpPr/>
          <p:nvPr/>
        </p:nvCxnSpPr>
        <p:spPr>
          <a:xfrm>
            <a:off x="4160520" y="2633472"/>
            <a:ext cx="155448" cy="54864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BOX_module"/>
          <p:cNvSpPr/>
          <p:nvPr/>
        </p:nvSpPr>
        <p:spPr>
          <a:xfrm>
            <a:off x="5001768" y="2624328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FLOW_connector"/>
          <p:cNvCxnSpPr/>
          <p:nvPr/>
        </p:nvCxnSpPr>
        <p:spPr>
          <a:xfrm>
            <a:off x="5303520" y="1179576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FLOW_connector"/>
          <p:cNvCxnSpPr/>
          <p:nvPr/>
        </p:nvCxnSpPr>
        <p:spPr>
          <a:xfrm>
            <a:off x="5413248" y="1179576"/>
            <a:ext cx="0" cy="1453896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FLOW_connector"/>
          <p:cNvCxnSpPr/>
          <p:nvPr/>
        </p:nvCxnSpPr>
        <p:spPr>
          <a:xfrm flipH="1">
            <a:off x="5303520" y="2633472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XT_Obs._context"/>
          <p:cNvSpPr txBox="1"/>
          <p:nvPr/>
        </p:nvSpPr>
        <p:spPr>
          <a:xfrm>
            <a:off x="5321808" y="1737360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35689F"/>
                </a:solidFill>
                <a:latin typeface="Arial"/>
              </a:rPr>
              <a:t>Obs.
context</a:t>
            </a:r>
          </a:p>
        </p:txBody>
      </p:sp>
      <p:cxnSp>
        <p:nvCxnSpPr>
          <p:cNvPr id="103" name="FLOW_connector"/>
          <p:cNvCxnSpPr/>
          <p:nvPr/>
        </p:nvCxnSpPr>
        <p:spPr>
          <a:xfrm>
            <a:off x="5413248" y="1901952"/>
            <a:ext cx="301752" cy="0"/>
          </a:xfrm>
          <a:prstGeom prst="line">
            <a:avLst/>
          </a:prstGeom>
          <a:ln w="1651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BOX_Foresight_Transformer"/>
          <p:cNvSpPr/>
          <p:nvPr/>
        </p:nvSpPr>
        <p:spPr>
          <a:xfrm>
            <a:off x="5715000" y="1307592"/>
            <a:ext cx="1353312" cy="114300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900" b="1">
                <a:solidFill>
                  <a:srgbClr val="172B3A"/>
                </a:solidFill>
                <a:latin typeface="Arial"/>
              </a:rPr>
              <a:t>Foresight
Transformer</a:t>
            </a:r>
          </a:p>
        </p:txBody>
      </p:sp>
      <p:sp>
        <p:nvSpPr>
          <p:cNvPr id="105" name="BOX_Action cross-attention"/>
          <p:cNvSpPr/>
          <p:nvPr/>
        </p:nvSpPr>
        <p:spPr>
          <a:xfrm>
            <a:off x="5769864" y="2157984"/>
            <a:ext cx="1243584" cy="228600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Action cross-attention</a:t>
            </a:r>
          </a:p>
        </p:txBody>
      </p:sp>
      <p:sp>
        <p:nvSpPr>
          <p:cNvPr id="106" name="TXT_Future queries"/>
          <p:cNvSpPr txBox="1"/>
          <p:nvPr/>
        </p:nvSpPr>
        <p:spPr>
          <a:xfrm>
            <a:off x="5870448" y="722376"/>
            <a:ext cx="100584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657487"/>
                </a:solidFill>
                <a:latin typeface="Arial"/>
              </a:rPr>
              <a:t>Future queries</a:t>
            </a:r>
          </a:p>
        </p:txBody>
      </p:sp>
      <p:sp>
        <p:nvSpPr>
          <p:cNvPr id="107" name="BOX_module"/>
          <p:cNvSpPr/>
          <p:nvPr/>
        </p:nvSpPr>
        <p:spPr>
          <a:xfrm>
            <a:off x="592531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OX_module"/>
          <p:cNvSpPr/>
          <p:nvPr/>
        </p:nvSpPr>
        <p:spPr>
          <a:xfrm>
            <a:off x="606247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OX_module"/>
          <p:cNvSpPr/>
          <p:nvPr/>
        </p:nvSpPr>
        <p:spPr>
          <a:xfrm>
            <a:off x="619963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XT_..."/>
          <p:cNvSpPr txBox="1"/>
          <p:nvPr/>
        </p:nvSpPr>
        <p:spPr>
          <a:xfrm>
            <a:off x="6318504" y="905256"/>
            <a:ext cx="182880" cy="10972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700" b="1">
                <a:solidFill>
                  <a:srgbClr val="8E9AA8"/>
                </a:solidFill>
                <a:latin typeface="Arial"/>
              </a:rPr>
              <a:t>...</a:t>
            </a:r>
          </a:p>
        </p:txBody>
      </p:sp>
      <p:sp>
        <p:nvSpPr>
          <p:cNvPr id="111" name="BOX_module"/>
          <p:cNvSpPr/>
          <p:nvPr/>
        </p:nvSpPr>
        <p:spPr>
          <a:xfrm>
            <a:off x="651052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BOX_module"/>
          <p:cNvSpPr/>
          <p:nvPr/>
        </p:nvSpPr>
        <p:spPr>
          <a:xfrm>
            <a:off x="664768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FLOW_connector"/>
          <p:cNvCxnSpPr/>
          <p:nvPr/>
        </p:nvCxnSpPr>
        <p:spPr>
          <a:xfrm>
            <a:off x="597560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FLOW_connector"/>
          <p:cNvCxnSpPr/>
          <p:nvPr/>
        </p:nvCxnSpPr>
        <p:spPr>
          <a:xfrm>
            <a:off x="611276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FLOW_connector"/>
          <p:cNvCxnSpPr/>
          <p:nvPr/>
        </p:nvCxnSpPr>
        <p:spPr>
          <a:xfrm>
            <a:off x="624992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FLOW_connector"/>
          <p:cNvCxnSpPr/>
          <p:nvPr/>
        </p:nvCxnSpPr>
        <p:spPr>
          <a:xfrm>
            <a:off x="656082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FLOW_connector"/>
          <p:cNvCxnSpPr/>
          <p:nvPr/>
        </p:nvCxnSpPr>
        <p:spPr>
          <a:xfrm>
            <a:off x="669798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XT_Actions"/>
          <p:cNvSpPr txBox="1"/>
          <p:nvPr/>
        </p:nvSpPr>
        <p:spPr>
          <a:xfrm>
            <a:off x="5340096" y="2468880"/>
            <a:ext cx="4389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B96425"/>
                </a:solidFill>
                <a:latin typeface="Arial"/>
              </a:rPr>
              <a:t>Actions</a:t>
            </a:r>
          </a:p>
        </p:txBody>
      </p:sp>
      <p:cxnSp>
        <p:nvCxnSpPr>
          <p:cNvPr id="119" name="FLOW_connector"/>
          <p:cNvCxnSpPr/>
          <p:nvPr/>
        </p:nvCxnSpPr>
        <p:spPr>
          <a:xfrm flipV="1">
            <a:off x="5468112" y="2615184"/>
            <a:ext cx="118872" cy="9144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FLOW_connector"/>
          <p:cNvCxnSpPr/>
          <p:nvPr/>
        </p:nvCxnSpPr>
        <p:spPr>
          <a:xfrm>
            <a:off x="5586984" y="2615184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FLOW_connector"/>
          <p:cNvCxnSpPr/>
          <p:nvPr/>
        </p:nvCxnSpPr>
        <p:spPr>
          <a:xfrm flipV="1">
            <a:off x="5468112" y="2651760"/>
            <a:ext cx="118872" cy="100584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FLOW_connector"/>
          <p:cNvCxnSpPr/>
          <p:nvPr/>
        </p:nvCxnSpPr>
        <p:spPr>
          <a:xfrm>
            <a:off x="5586984" y="2651760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FLOW_connector"/>
          <p:cNvCxnSpPr/>
          <p:nvPr/>
        </p:nvCxnSpPr>
        <p:spPr>
          <a:xfrm flipV="1">
            <a:off x="5468112" y="2688336"/>
            <a:ext cx="118872" cy="109728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FLOW_connector"/>
          <p:cNvCxnSpPr/>
          <p:nvPr/>
        </p:nvCxnSpPr>
        <p:spPr>
          <a:xfrm>
            <a:off x="5586984" y="2688336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BOX_Action_Embedding"/>
          <p:cNvSpPr/>
          <p:nvPr/>
        </p:nvSpPr>
        <p:spPr>
          <a:xfrm>
            <a:off x="5797296" y="2532888"/>
            <a:ext cx="566928" cy="292608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Action
Embedding</a:t>
            </a:r>
          </a:p>
        </p:txBody>
      </p:sp>
      <p:sp>
        <p:nvSpPr>
          <p:cNvPr id="126" name="BOX_module"/>
          <p:cNvSpPr/>
          <p:nvPr/>
        </p:nvSpPr>
        <p:spPr>
          <a:xfrm>
            <a:off x="64282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BOX_module"/>
          <p:cNvSpPr/>
          <p:nvPr/>
        </p:nvSpPr>
        <p:spPr>
          <a:xfrm>
            <a:off x="65425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OX_module"/>
          <p:cNvSpPr/>
          <p:nvPr/>
        </p:nvSpPr>
        <p:spPr>
          <a:xfrm>
            <a:off x="66568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OX_module"/>
          <p:cNvSpPr/>
          <p:nvPr/>
        </p:nvSpPr>
        <p:spPr>
          <a:xfrm>
            <a:off x="67711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BOX_module"/>
          <p:cNvSpPr/>
          <p:nvPr/>
        </p:nvSpPr>
        <p:spPr>
          <a:xfrm>
            <a:off x="68854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FLOW_connector"/>
          <p:cNvCxnSpPr/>
          <p:nvPr/>
        </p:nvCxnSpPr>
        <p:spPr>
          <a:xfrm flipV="1">
            <a:off x="64739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FLOW_connector"/>
          <p:cNvCxnSpPr/>
          <p:nvPr/>
        </p:nvCxnSpPr>
        <p:spPr>
          <a:xfrm flipV="1">
            <a:off x="65882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FLOW_connector"/>
          <p:cNvCxnSpPr/>
          <p:nvPr/>
        </p:nvCxnSpPr>
        <p:spPr>
          <a:xfrm flipV="1">
            <a:off x="67025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FLOW_connector"/>
          <p:cNvCxnSpPr/>
          <p:nvPr/>
        </p:nvCxnSpPr>
        <p:spPr>
          <a:xfrm flipV="1">
            <a:off x="68168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FLOW_connector"/>
          <p:cNvCxnSpPr/>
          <p:nvPr/>
        </p:nvCxnSpPr>
        <p:spPr>
          <a:xfrm flipV="1">
            <a:off x="69311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FLOW_connector"/>
          <p:cNvCxnSpPr/>
          <p:nvPr/>
        </p:nvCxnSpPr>
        <p:spPr>
          <a:xfrm>
            <a:off x="7068312" y="1901952"/>
            <a:ext cx="182880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XT_Future tactile latents"/>
          <p:cNvSpPr txBox="1"/>
          <p:nvPr/>
        </p:nvSpPr>
        <p:spPr>
          <a:xfrm>
            <a:off x="7159752" y="713232"/>
            <a:ext cx="148132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197B82"/>
                </a:solidFill>
                <a:latin typeface="Arial"/>
              </a:rPr>
              <a:t>Future tactile latents</a:t>
            </a:r>
          </a:p>
        </p:txBody>
      </p:sp>
      <p:sp>
        <p:nvSpPr>
          <p:cNvPr id="138" name="BOX_module"/>
          <p:cNvSpPr/>
          <p:nvPr/>
        </p:nvSpPr>
        <p:spPr>
          <a:xfrm>
            <a:off x="728776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BOX_module"/>
          <p:cNvSpPr/>
          <p:nvPr/>
        </p:nvSpPr>
        <p:spPr>
          <a:xfrm>
            <a:off x="735634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BOX_module"/>
          <p:cNvSpPr/>
          <p:nvPr/>
        </p:nvSpPr>
        <p:spPr>
          <a:xfrm>
            <a:off x="7424927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BOX_module"/>
          <p:cNvSpPr/>
          <p:nvPr/>
        </p:nvSpPr>
        <p:spPr>
          <a:xfrm>
            <a:off x="728776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BOX_module"/>
          <p:cNvSpPr/>
          <p:nvPr/>
        </p:nvSpPr>
        <p:spPr>
          <a:xfrm>
            <a:off x="735634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BOX_module"/>
          <p:cNvSpPr/>
          <p:nvPr/>
        </p:nvSpPr>
        <p:spPr>
          <a:xfrm>
            <a:off x="7424927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OX_module"/>
          <p:cNvSpPr/>
          <p:nvPr/>
        </p:nvSpPr>
        <p:spPr>
          <a:xfrm>
            <a:off x="728776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BOX_module"/>
          <p:cNvSpPr/>
          <p:nvPr/>
        </p:nvSpPr>
        <p:spPr>
          <a:xfrm>
            <a:off x="735634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BOX_module"/>
          <p:cNvSpPr/>
          <p:nvPr/>
        </p:nvSpPr>
        <p:spPr>
          <a:xfrm>
            <a:off x="7424927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XT_t+1"/>
          <p:cNvSpPr txBox="1"/>
          <p:nvPr/>
        </p:nvSpPr>
        <p:spPr>
          <a:xfrm>
            <a:off x="7287768" y="1225296"/>
            <a:ext cx="219456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t+1</a:t>
            </a:r>
          </a:p>
        </p:txBody>
      </p:sp>
      <p:sp>
        <p:nvSpPr>
          <p:cNvPr id="148" name="TXT_..."/>
          <p:cNvSpPr txBox="1"/>
          <p:nvPr/>
        </p:nvSpPr>
        <p:spPr>
          <a:xfrm>
            <a:off x="7616952" y="1042415"/>
            <a:ext cx="201168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7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sp>
        <p:nvSpPr>
          <p:cNvPr id="149" name="BOX_module"/>
          <p:cNvSpPr/>
          <p:nvPr/>
        </p:nvSpPr>
        <p:spPr>
          <a:xfrm>
            <a:off x="785469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BOX_module"/>
          <p:cNvSpPr/>
          <p:nvPr/>
        </p:nvSpPr>
        <p:spPr>
          <a:xfrm>
            <a:off x="7923275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BOX_module"/>
          <p:cNvSpPr/>
          <p:nvPr/>
        </p:nvSpPr>
        <p:spPr>
          <a:xfrm>
            <a:off x="799185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BOX_module"/>
          <p:cNvSpPr/>
          <p:nvPr/>
        </p:nvSpPr>
        <p:spPr>
          <a:xfrm>
            <a:off x="785469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BOX_module"/>
          <p:cNvSpPr/>
          <p:nvPr/>
        </p:nvSpPr>
        <p:spPr>
          <a:xfrm>
            <a:off x="7923275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BOX_module"/>
          <p:cNvSpPr/>
          <p:nvPr/>
        </p:nvSpPr>
        <p:spPr>
          <a:xfrm>
            <a:off x="799185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OX_module"/>
          <p:cNvSpPr/>
          <p:nvPr/>
        </p:nvSpPr>
        <p:spPr>
          <a:xfrm>
            <a:off x="785469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BOX_module"/>
          <p:cNvSpPr/>
          <p:nvPr/>
        </p:nvSpPr>
        <p:spPr>
          <a:xfrm>
            <a:off x="7923275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BOX_module"/>
          <p:cNvSpPr/>
          <p:nvPr/>
        </p:nvSpPr>
        <p:spPr>
          <a:xfrm>
            <a:off x="799185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XT_t+H"/>
          <p:cNvSpPr txBox="1"/>
          <p:nvPr/>
        </p:nvSpPr>
        <p:spPr>
          <a:xfrm>
            <a:off x="7836408" y="1225296"/>
            <a:ext cx="25603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t+H</a:t>
            </a:r>
          </a:p>
        </p:txBody>
      </p:sp>
      <p:cxnSp>
        <p:nvCxnSpPr>
          <p:cNvPr id="159" name="FLOW_connector"/>
          <p:cNvCxnSpPr/>
          <p:nvPr/>
        </p:nvCxnSpPr>
        <p:spPr>
          <a:xfrm>
            <a:off x="7516368" y="1143000"/>
            <a:ext cx="301752" cy="0"/>
          </a:xfrm>
          <a:prstGeom prst="line">
            <a:avLst/>
          </a:prstGeom>
          <a:ln w="8890">
            <a:solidFill>
              <a:srgbClr val="2D9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BOX_Marker_Decoder"/>
          <p:cNvSpPr/>
          <p:nvPr/>
        </p:nvSpPr>
        <p:spPr>
          <a:xfrm>
            <a:off x="7333488" y="1545336"/>
            <a:ext cx="603504" cy="384048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90" b="1">
                <a:solidFill>
                  <a:srgbClr val="172B3A"/>
                </a:solidFill>
                <a:latin typeface="Arial"/>
              </a:rPr>
              <a:t>Marker
Decoder</a:t>
            </a:r>
          </a:p>
        </p:txBody>
      </p:sp>
      <p:cxnSp>
        <p:nvCxnSpPr>
          <p:cNvPr id="161" name="FLOW_connector"/>
          <p:cNvCxnSpPr/>
          <p:nvPr/>
        </p:nvCxnSpPr>
        <p:spPr>
          <a:xfrm flipV="1">
            <a:off x="7858810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FLOW_connector"/>
          <p:cNvCxnSpPr/>
          <p:nvPr/>
        </p:nvCxnSpPr>
        <p:spPr>
          <a:xfrm>
            <a:off x="7858810" y="1485442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FLOW_connector"/>
          <p:cNvCxnSpPr/>
          <p:nvPr/>
        </p:nvCxnSpPr>
        <p:spPr>
          <a:xfrm>
            <a:off x="7897215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BOX_module"/>
          <p:cNvSpPr/>
          <p:nvPr/>
        </p:nvSpPr>
        <p:spPr>
          <a:xfrm>
            <a:off x="7836408" y="1514246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FLOW_connector"/>
          <p:cNvCxnSpPr/>
          <p:nvPr/>
        </p:nvCxnSpPr>
        <p:spPr>
          <a:xfrm>
            <a:off x="7626096" y="1344168"/>
            <a:ext cx="0" cy="201168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6" name="IMG_foresight_pred_h1" descr="foresight_pred_h1.png"/>
          <p:cNvPicPr>
            <a:picLocks noChangeAspect="1"/>
          </p:cNvPicPr>
          <p:nvPr/>
        </p:nvPicPr>
        <p:blipFill>
          <a:blip r:embed="rId8"/>
          <a:srcRect l="1103" r="1103"/>
          <a:stretch>
            <a:fillRect/>
          </a:stretch>
        </p:blipFill>
        <p:spPr>
          <a:xfrm>
            <a:off x="8101583" y="1618488"/>
            <a:ext cx="310896" cy="310896"/>
          </a:xfrm>
          <a:prstGeom prst="rect">
            <a:avLst/>
          </a:prstGeom>
        </p:spPr>
      </p:pic>
      <p:sp>
        <p:nvSpPr>
          <p:cNvPr id="167" name="FRAME_foresight_pred_h1"/>
          <p:cNvSpPr/>
          <p:nvPr/>
        </p:nvSpPr>
        <p:spPr>
          <a:xfrm>
            <a:off x="8101583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IMG_foresight_pred_h8" descr="foresight_pred_h8.png"/>
          <p:cNvPicPr>
            <a:picLocks noChangeAspect="1"/>
          </p:cNvPicPr>
          <p:nvPr/>
        </p:nvPicPr>
        <p:blipFill>
          <a:blip r:embed="rId9"/>
          <a:srcRect l="1103" r="1103"/>
          <a:stretch>
            <a:fillRect/>
          </a:stretch>
        </p:blipFill>
        <p:spPr>
          <a:xfrm>
            <a:off x="8458200" y="1618488"/>
            <a:ext cx="310896" cy="310896"/>
          </a:xfrm>
          <a:prstGeom prst="rect">
            <a:avLst/>
          </a:prstGeom>
        </p:spPr>
      </p:pic>
      <p:sp>
        <p:nvSpPr>
          <p:cNvPr id="169" name="FRAME_foresight_pred_h8"/>
          <p:cNvSpPr/>
          <p:nvPr/>
        </p:nvSpPr>
        <p:spPr>
          <a:xfrm>
            <a:off x="8458200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IMG_foresight_pred_h16" descr="foresight_pred_h16.png"/>
          <p:cNvPicPr>
            <a:picLocks noChangeAspect="1"/>
          </p:cNvPicPr>
          <p:nvPr/>
        </p:nvPicPr>
        <p:blipFill>
          <a:blip r:embed="rId10"/>
          <a:srcRect l="1460" r="1460"/>
          <a:stretch>
            <a:fillRect/>
          </a:stretch>
        </p:blipFill>
        <p:spPr>
          <a:xfrm>
            <a:off x="8814815" y="1618488"/>
            <a:ext cx="310896" cy="310896"/>
          </a:xfrm>
          <a:prstGeom prst="rect">
            <a:avLst/>
          </a:prstGeom>
        </p:spPr>
      </p:pic>
      <p:sp>
        <p:nvSpPr>
          <p:cNvPr id="171" name="FRAME_foresight_pred_h16"/>
          <p:cNvSpPr/>
          <p:nvPr/>
        </p:nvSpPr>
        <p:spPr>
          <a:xfrm>
            <a:off x="8814815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FLOW_connector"/>
          <p:cNvCxnSpPr/>
          <p:nvPr/>
        </p:nvCxnSpPr>
        <p:spPr>
          <a:xfrm>
            <a:off x="7936992" y="1737360"/>
            <a:ext cx="146304" cy="36576"/>
          </a:xfrm>
          <a:prstGeom prst="line">
            <a:avLst/>
          </a:prstGeom>
          <a:ln w="1143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XT_Decoded contact evolutio"/>
          <p:cNvSpPr txBox="1"/>
          <p:nvPr/>
        </p:nvSpPr>
        <p:spPr>
          <a:xfrm>
            <a:off x="7973568" y="1956816"/>
            <a:ext cx="11887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657487"/>
                </a:solidFill>
                <a:latin typeface="Arial"/>
              </a:rPr>
              <a:t>Decoded contact evolution</a:t>
            </a:r>
          </a:p>
        </p:txBody>
      </p:sp>
      <p:sp>
        <p:nvSpPr>
          <p:cNvPr id="174" name="TXT_parallel future"/>
          <p:cNvSpPr txBox="1"/>
          <p:nvPr/>
        </p:nvSpPr>
        <p:spPr>
          <a:xfrm>
            <a:off x="8001000" y="2139696"/>
            <a:ext cx="11430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8E9AA8"/>
                </a:solidFill>
                <a:latin typeface="Arial"/>
              </a:rPr>
              <a:t>parallel future</a:t>
            </a:r>
          </a:p>
        </p:txBody>
      </p:sp>
      <p:sp>
        <p:nvSpPr>
          <p:cNvPr id="175" name="TXT_(c) Contact-Quality Scor"/>
          <p:cNvSpPr txBox="1"/>
          <p:nvPr/>
        </p:nvSpPr>
        <p:spPr>
          <a:xfrm>
            <a:off x="9326880" y="429768"/>
            <a:ext cx="269748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(c) Contact-Quality Scorer</a:t>
            </a:r>
          </a:p>
        </p:txBody>
      </p:sp>
      <p:sp>
        <p:nvSpPr>
          <p:cNvPr id="176" name="BOX_module"/>
          <p:cNvSpPr/>
          <p:nvPr/>
        </p:nvSpPr>
        <p:spPr>
          <a:xfrm>
            <a:off x="9418320" y="822960"/>
            <a:ext cx="310896" cy="310896"/>
          </a:xfrm>
          <a:prstGeom prst="roundRect">
            <a:avLst/>
          </a:prstGeom>
          <a:solidFill>
            <a:srgbClr val="E2F2E4"/>
          </a:solidFill>
          <a:ln w="889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XT_+"/>
          <p:cNvSpPr txBox="1"/>
          <p:nvPr/>
        </p:nvSpPr>
        <p:spPr>
          <a:xfrm>
            <a:off x="9418320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59A968"/>
                </a:solidFill>
                <a:latin typeface="Arial"/>
              </a:rPr>
              <a:t>+</a:t>
            </a:r>
          </a:p>
        </p:txBody>
      </p:sp>
      <p:sp>
        <p:nvSpPr>
          <p:cNvPr id="178" name="TXT_stable"/>
          <p:cNvSpPr txBox="1"/>
          <p:nvPr/>
        </p:nvSpPr>
        <p:spPr>
          <a:xfrm>
            <a:off x="9345168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stable</a:t>
            </a:r>
          </a:p>
        </p:txBody>
      </p:sp>
      <p:sp>
        <p:nvSpPr>
          <p:cNvPr id="179" name="BOX_module"/>
          <p:cNvSpPr/>
          <p:nvPr/>
        </p:nvSpPr>
        <p:spPr>
          <a:xfrm>
            <a:off x="9912096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XT_-"/>
          <p:cNvSpPr txBox="1"/>
          <p:nvPr/>
        </p:nvSpPr>
        <p:spPr>
          <a:xfrm>
            <a:off x="9912096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-</a:t>
            </a:r>
          </a:p>
        </p:txBody>
      </p:sp>
      <p:sp>
        <p:nvSpPr>
          <p:cNvPr id="181" name="TXT_dropout"/>
          <p:cNvSpPr txBox="1"/>
          <p:nvPr/>
        </p:nvSpPr>
        <p:spPr>
          <a:xfrm>
            <a:off x="9838944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dropout</a:t>
            </a:r>
          </a:p>
        </p:txBody>
      </p:sp>
      <p:sp>
        <p:nvSpPr>
          <p:cNvPr id="182" name="BOX_module"/>
          <p:cNvSpPr/>
          <p:nvPr/>
        </p:nvSpPr>
        <p:spPr>
          <a:xfrm>
            <a:off x="10405872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XT_!"/>
          <p:cNvSpPr txBox="1"/>
          <p:nvPr/>
        </p:nvSpPr>
        <p:spPr>
          <a:xfrm>
            <a:off x="10405872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!</a:t>
            </a:r>
          </a:p>
        </p:txBody>
      </p:sp>
      <p:sp>
        <p:nvSpPr>
          <p:cNvPr id="184" name="TXT_excess"/>
          <p:cNvSpPr txBox="1"/>
          <p:nvPr/>
        </p:nvSpPr>
        <p:spPr>
          <a:xfrm>
            <a:off x="10332720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excess</a:t>
            </a:r>
          </a:p>
        </p:txBody>
      </p:sp>
      <p:sp>
        <p:nvSpPr>
          <p:cNvPr id="185" name="BOX_module"/>
          <p:cNvSpPr/>
          <p:nvPr/>
        </p:nvSpPr>
        <p:spPr>
          <a:xfrm>
            <a:off x="10899648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XT_~"/>
          <p:cNvSpPr txBox="1"/>
          <p:nvPr/>
        </p:nvSpPr>
        <p:spPr>
          <a:xfrm>
            <a:off x="10899648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~</a:t>
            </a:r>
          </a:p>
        </p:txBody>
      </p:sp>
      <p:sp>
        <p:nvSpPr>
          <p:cNvPr id="187" name="TXT_slip"/>
          <p:cNvSpPr txBox="1"/>
          <p:nvPr/>
        </p:nvSpPr>
        <p:spPr>
          <a:xfrm>
            <a:off x="10826496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slip</a:t>
            </a:r>
          </a:p>
        </p:txBody>
      </p:sp>
      <p:sp>
        <p:nvSpPr>
          <p:cNvPr id="188" name="BOX_module"/>
          <p:cNvSpPr/>
          <p:nvPr/>
        </p:nvSpPr>
        <p:spPr>
          <a:xfrm>
            <a:off x="11393424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XT_x"/>
          <p:cNvSpPr txBox="1"/>
          <p:nvPr/>
        </p:nvSpPr>
        <p:spPr>
          <a:xfrm>
            <a:off x="11393424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x</a:t>
            </a:r>
          </a:p>
        </p:txBody>
      </p:sp>
      <p:sp>
        <p:nvSpPr>
          <p:cNvPr id="190" name="TXT_jam"/>
          <p:cNvSpPr txBox="1"/>
          <p:nvPr/>
        </p:nvSpPr>
        <p:spPr>
          <a:xfrm>
            <a:off x="11320272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jam</a:t>
            </a:r>
          </a:p>
        </p:txBody>
      </p:sp>
      <p:cxnSp>
        <p:nvCxnSpPr>
          <p:cNvPr id="191" name="FLOW_connector"/>
          <p:cNvCxnSpPr/>
          <p:nvPr/>
        </p:nvCxnSpPr>
        <p:spPr>
          <a:xfrm>
            <a:off x="9381744" y="1371600"/>
            <a:ext cx="2551176" cy="0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XT_Aligned trajectories"/>
          <p:cNvSpPr txBox="1"/>
          <p:nvPr/>
        </p:nvSpPr>
        <p:spPr>
          <a:xfrm>
            <a:off x="9372600" y="1499616"/>
            <a:ext cx="11430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657487"/>
                </a:solidFill>
                <a:latin typeface="Arial"/>
              </a:rPr>
              <a:t>Aligned trajectories</a:t>
            </a:r>
          </a:p>
        </p:txBody>
      </p:sp>
      <p:sp>
        <p:nvSpPr>
          <p:cNvPr id="193" name="BOX_module"/>
          <p:cNvSpPr/>
          <p:nvPr/>
        </p:nvSpPr>
        <p:spPr>
          <a:xfrm>
            <a:off x="9464040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BOX_module"/>
          <p:cNvSpPr/>
          <p:nvPr/>
        </p:nvSpPr>
        <p:spPr>
          <a:xfrm>
            <a:off x="9614915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BOX_module"/>
          <p:cNvSpPr/>
          <p:nvPr/>
        </p:nvSpPr>
        <p:spPr>
          <a:xfrm>
            <a:off x="9765792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BOX_module"/>
          <p:cNvSpPr/>
          <p:nvPr/>
        </p:nvSpPr>
        <p:spPr>
          <a:xfrm>
            <a:off x="9916667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BOX_module"/>
          <p:cNvSpPr/>
          <p:nvPr/>
        </p:nvSpPr>
        <p:spPr>
          <a:xfrm>
            <a:off x="10067544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BOX_module"/>
          <p:cNvSpPr/>
          <p:nvPr/>
        </p:nvSpPr>
        <p:spPr>
          <a:xfrm>
            <a:off x="9464040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BOX_module"/>
          <p:cNvSpPr/>
          <p:nvPr/>
        </p:nvSpPr>
        <p:spPr>
          <a:xfrm>
            <a:off x="9614915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BOX_module"/>
          <p:cNvSpPr/>
          <p:nvPr/>
        </p:nvSpPr>
        <p:spPr>
          <a:xfrm>
            <a:off x="9765792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BOX_module"/>
          <p:cNvSpPr/>
          <p:nvPr/>
        </p:nvSpPr>
        <p:spPr>
          <a:xfrm>
            <a:off x="9916667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BOX_module"/>
          <p:cNvSpPr/>
          <p:nvPr/>
        </p:nvSpPr>
        <p:spPr>
          <a:xfrm>
            <a:off x="10067544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FLOW_connector"/>
          <p:cNvCxnSpPr/>
          <p:nvPr/>
        </p:nvCxnSpPr>
        <p:spPr>
          <a:xfrm>
            <a:off x="10195560" y="1837943"/>
            <a:ext cx="301752" cy="109729"/>
          </a:xfrm>
          <a:prstGeom prst="line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FLOW_connector"/>
          <p:cNvCxnSpPr/>
          <p:nvPr/>
        </p:nvCxnSpPr>
        <p:spPr>
          <a:xfrm flipV="1">
            <a:off x="10195560" y="1993392"/>
            <a:ext cx="301752" cy="118872"/>
          </a:xfrm>
          <a:prstGeom prst="line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BOX_Contact-Quality_Scorer"/>
          <p:cNvSpPr/>
          <p:nvPr/>
        </p:nvSpPr>
        <p:spPr>
          <a:xfrm>
            <a:off x="10497312" y="1673352"/>
            <a:ext cx="749808" cy="621792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20" b="1">
                <a:solidFill>
                  <a:srgbClr val="172B3A"/>
                </a:solidFill>
                <a:latin typeface="Arial"/>
              </a:rPr>
              <a:t>Contact-Quality
Scorer</a:t>
            </a:r>
          </a:p>
        </p:txBody>
      </p:sp>
      <p:sp>
        <p:nvSpPr>
          <p:cNvPr id="206" name="TXT_stable"/>
          <p:cNvSpPr txBox="1"/>
          <p:nvPr/>
        </p:nvSpPr>
        <p:spPr>
          <a:xfrm>
            <a:off x="11329416" y="1636776"/>
            <a:ext cx="43891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347B45"/>
                </a:solidFill>
                <a:latin typeface="Arial"/>
              </a:rPr>
              <a:t>stable</a:t>
            </a:r>
          </a:p>
        </p:txBody>
      </p:sp>
      <p:sp>
        <p:nvSpPr>
          <p:cNvPr id="207" name="BOX_module"/>
          <p:cNvSpPr/>
          <p:nvPr/>
        </p:nvSpPr>
        <p:spPr>
          <a:xfrm>
            <a:off x="11338560" y="1801368"/>
            <a:ext cx="502920" cy="91440"/>
          </a:xfrm>
          <a:prstGeom prst="roundRect">
            <a:avLst/>
          </a:prstGeom>
          <a:solidFill>
            <a:srgbClr val="59A968"/>
          </a:solidFill>
          <a:ln w="1143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XT_failure risk"/>
          <p:cNvSpPr txBox="1"/>
          <p:nvPr/>
        </p:nvSpPr>
        <p:spPr>
          <a:xfrm>
            <a:off x="11329416" y="1956816"/>
            <a:ext cx="566928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D85D5D"/>
                </a:solidFill>
                <a:latin typeface="Arial"/>
              </a:rPr>
              <a:t>failure risk</a:t>
            </a:r>
          </a:p>
        </p:txBody>
      </p:sp>
      <p:sp>
        <p:nvSpPr>
          <p:cNvPr id="209" name="BOX_module"/>
          <p:cNvSpPr/>
          <p:nvPr/>
        </p:nvSpPr>
        <p:spPr>
          <a:xfrm>
            <a:off x="11338560" y="2121408"/>
            <a:ext cx="301752" cy="91440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FLOW_connector"/>
          <p:cNvCxnSpPr/>
          <p:nvPr/>
        </p:nvCxnSpPr>
        <p:spPr>
          <a:xfrm>
            <a:off x="11247120" y="1975104"/>
            <a:ext cx="73152" cy="0"/>
          </a:xfrm>
          <a:prstGeom prst="line">
            <a:avLst/>
          </a:prstGeom>
          <a:ln w="12700">
            <a:solidFill>
              <a:srgbClr val="C6A24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XT_INFERENCE-TIME PREDICTIV"/>
          <p:cNvSpPr txBox="1"/>
          <p:nvPr/>
        </p:nvSpPr>
        <p:spPr>
          <a:xfrm>
            <a:off x="164592" y="2962656"/>
            <a:ext cx="384048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080" b="1">
                <a:solidFill>
                  <a:srgbClr val="172B3A"/>
                </a:solidFill>
                <a:latin typeface="Arial"/>
              </a:rPr>
              <a:t>INFERENCE-TIME PREDICTIVE GUIDANCE</a:t>
            </a:r>
          </a:p>
        </p:txBody>
      </p:sp>
      <p:sp>
        <p:nvSpPr>
          <p:cNvPr id="212" name="TXT_Frozen models; only the "/>
          <p:cNvSpPr txBox="1"/>
          <p:nvPr/>
        </p:nvSpPr>
        <p:spPr>
          <a:xfrm>
            <a:off x="164592" y="3172968"/>
            <a:ext cx="28346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50" b="0">
                <a:solidFill>
                  <a:srgbClr val="657487"/>
                </a:solidFill>
                <a:latin typeface="Arial"/>
              </a:rPr>
              <a:t>Frozen models; only the action sample is updated.</a:t>
            </a:r>
          </a:p>
        </p:txBody>
      </p:sp>
      <p:sp>
        <p:nvSpPr>
          <p:cNvPr id="213" name="BOX_module"/>
          <p:cNvSpPr/>
          <p:nvPr/>
        </p:nvSpPr>
        <p:spPr>
          <a:xfrm>
            <a:off x="256032" y="4572000"/>
            <a:ext cx="137160" cy="137160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BOX_module"/>
          <p:cNvSpPr/>
          <p:nvPr/>
        </p:nvSpPr>
        <p:spPr>
          <a:xfrm>
            <a:off x="416052" y="4572000"/>
            <a:ext cx="137160" cy="137160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BOX_module"/>
          <p:cNvSpPr/>
          <p:nvPr/>
        </p:nvSpPr>
        <p:spPr>
          <a:xfrm>
            <a:off x="576072" y="457200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BOX_module"/>
          <p:cNvSpPr/>
          <p:nvPr/>
        </p:nvSpPr>
        <p:spPr>
          <a:xfrm>
            <a:off x="736092" y="457200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BOX_module"/>
          <p:cNvSpPr/>
          <p:nvPr/>
        </p:nvSpPr>
        <p:spPr>
          <a:xfrm>
            <a:off x="896112" y="457200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XT_initial noise"/>
          <p:cNvSpPr txBox="1"/>
          <p:nvPr/>
        </p:nvSpPr>
        <p:spPr>
          <a:xfrm>
            <a:off x="228600" y="4764024"/>
            <a:ext cx="82296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0">
                <a:solidFill>
                  <a:srgbClr val="657487"/>
                </a:solidFill>
                <a:latin typeface="Arial"/>
              </a:rPr>
              <a:t>initial noise</a:t>
            </a:r>
          </a:p>
        </p:txBody>
      </p:sp>
      <p:cxnSp>
        <p:nvCxnSpPr>
          <p:cNvPr id="219" name="FLOW_connector"/>
          <p:cNvCxnSpPr/>
          <p:nvPr/>
        </p:nvCxnSpPr>
        <p:spPr>
          <a:xfrm>
            <a:off x="1078992" y="4645152"/>
            <a:ext cx="310896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XT_..."/>
          <p:cNvSpPr txBox="1"/>
          <p:nvPr/>
        </p:nvSpPr>
        <p:spPr>
          <a:xfrm>
            <a:off x="1380744" y="455371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cxnSp>
        <p:nvCxnSpPr>
          <p:cNvPr id="221" name="FLOW_connector"/>
          <p:cNvCxnSpPr/>
          <p:nvPr/>
        </p:nvCxnSpPr>
        <p:spPr>
          <a:xfrm>
            <a:off x="1609344" y="4645152"/>
            <a:ext cx="265175" cy="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BOX_module"/>
          <p:cNvSpPr/>
          <p:nvPr/>
        </p:nvSpPr>
        <p:spPr>
          <a:xfrm>
            <a:off x="1874519" y="4498848"/>
            <a:ext cx="1078992" cy="301752"/>
          </a:xfrm>
          <a:prstGeom prst="roundRect">
            <a:avLst/>
          </a:prstGeom>
          <a:solidFill>
            <a:srgbClr val="E8F0F8"/>
          </a:solidFill>
          <a:ln w="1651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BOX_module"/>
          <p:cNvSpPr/>
          <p:nvPr/>
        </p:nvSpPr>
        <p:spPr>
          <a:xfrm>
            <a:off x="1956816" y="4572000"/>
            <a:ext cx="128016" cy="128016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BOX_module"/>
          <p:cNvSpPr/>
          <p:nvPr/>
        </p:nvSpPr>
        <p:spPr>
          <a:xfrm>
            <a:off x="2107692" y="4572000"/>
            <a:ext cx="128016" cy="128016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BOX_module"/>
          <p:cNvSpPr/>
          <p:nvPr/>
        </p:nvSpPr>
        <p:spPr>
          <a:xfrm>
            <a:off x="2258568" y="457200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BOX_module"/>
          <p:cNvSpPr/>
          <p:nvPr/>
        </p:nvSpPr>
        <p:spPr>
          <a:xfrm>
            <a:off x="2409444" y="457200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BOX_module"/>
          <p:cNvSpPr/>
          <p:nvPr/>
        </p:nvSpPr>
        <p:spPr>
          <a:xfrm>
            <a:off x="2560320" y="457200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XT_selected late state  xᵏ"/>
          <p:cNvSpPr txBox="1"/>
          <p:nvPr/>
        </p:nvSpPr>
        <p:spPr>
          <a:xfrm>
            <a:off x="1828800" y="4837176"/>
            <a:ext cx="12070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35689F"/>
                </a:solidFill>
                <a:latin typeface="Arial"/>
              </a:rPr>
              <a:t>selected late state  xᵏ</a:t>
            </a:r>
          </a:p>
        </p:txBody>
      </p:sp>
      <p:cxnSp>
        <p:nvCxnSpPr>
          <p:cNvPr id="229" name="FLOW_connector"/>
          <p:cNvCxnSpPr/>
          <p:nvPr/>
        </p:nvCxnSpPr>
        <p:spPr>
          <a:xfrm>
            <a:off x="2953512" y="4645152"/>
            <a:ext cx="365760" cy="0"/>
          </a:xfrm>
          <a:prstGeom prst="line">
            <a:avLst/>
          </a:prstGeom>
          <a:ln w="20320">
            <a:solidFill>
              <a:srgbClr val="59A9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XT_guided_update"/>
          <p:cNvSpPr txBox="1"/>
          <p:nvPr/>
        </p:nvSpPr>
        <p:spPr>
          <a:xfrm>
            <a:off x="2953512" y="4288536"/>
            <a:ext cx="36576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347B45"/>
                </a:solidFill>
                <a:latin typeface="Arial"/>
              </a:rPr>
              <a:t>guided
update</a:t>
            </a:r>
          </a:p>
        </p:txBody>
      </p:sp>
      <p:sp>
        <p:nvSpPr>
          <p:cNvPr id="231" name="BOX_module"/>
          <p:cNvSpPr/>
          <p:nvPr/>
        </p:nvSpPr>
        <p:spPr>
          <a:xfrm>
            <a:off x="3319272" y="4498848"/>
            <a:ext cx="1078992" cy="301752"/>
          </a:xfrm>
          <a:prstGeom prst="roundRect">
            <a:avLst/>
          </a:prstGeom>
          <a:solidFill>
            <a:srgbClr val="E2F2E4"/>
          </a:solidFill>
          <a:ln w="16510">
            <a:solidFill>
              <a:srgbClr val="3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BOX_module"/>
          <p:cNvSpPr/>
          <p:nvPr/>
        </p:nvSpPr>
        <p:spPr>
          <a:xfrm>
            <a:off x="3401568" y="4572000"/>
            <a:ext cx="128016" cy="128016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BOX_module"/>
          <p:cNvSpPr/>
          <p:nvPr/>
        </p:nvSpPr>
        <p:spPr>
          <a:xfrm>
            <a:off x="3552444" y="4572000"/>
            <a:ext cx="128016" cy="128016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BOX_module"/>
          <p:cNvSpPr/>
          <p:nvPr/>
        </p:nvSpPr>
        <p:spPr>
          <a:xfrm>
            <a:off x="3703320" y="457200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BOX_module"/>
          <p:cNvSpPr/>
          <p:nvPr/>
        </p:nvSpPr>
        <p:spPr>
          <a:xfrm>
            <a:off x="3854196" y="457200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BOX_module"/>
          <p:cNvSpPr/>
          <p:nvPr/>
        </p:nvSpPr>
        <p:spPr>
          <a:xfrm>
            <a:off x="4005072" y="457200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XT_updated state  x̃ᵏ"/>
          <p:cNvSpPr txBox="1"/>
          <p:nvPr/>
        </p:nvSpPr>
        <p:spPr>
          <a:xfrm>
            <a:off x="3310128" y="4837176"/>
            <a:ext cx="109728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347B45"/>
                </a:solidFill>
                <a:latin typeface="Arial"/>
              </a:rPr>
              <a:t>updated state  x̃ᵏ</a:t>
            </a:r>
          </a:p>
        </p:txBody>
      </p:sp>
      <p:cxnSp>
        <p:nvCxnSpPr>
          <p:cNvPr id="238" name="FLOW_connector"/>
          <p:cNvCxnSpPr/>
          <p:nvPr/>
        </p:nvCxnSpPr>
        <p:spPr>
          <a:xfrm>
            <a:off x="4398264" y="4645152"/>
            <a:ext cx="356616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BOX_module"/>
          <p:cNvSpPr/>
          <p:nvPr/>
        </p:nvSpPr>
        <p:spPr>
          <a:xfrm>
            <a:off x="475488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BOX_module"/>
          <p:cNvSpPr/>
          <p:nvPr/>
        </p:nvSpPr>
        <p:spPr>
          <a:xfrm>
            <a:off x="491490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BOX_module"/>
          <p:cNvSpPr/>
          <p:nvPr/>
        </p:nvSpPr>
        <p:spPr>
          <a:xfrm>
            <a:off x="507492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BOX_module"/>
          <p:cNvSpPr/>
          <p:nvPr/>
        </p:nvSpPr>
        <p:spPr>
          <a:xfrm>
            <a:off x="523494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BOX_module"/>
          <p:cNvSpPr/>
          <p:nvPr/>
        </p:nvSpPr>
        <p:spPr>
          <a:xfrm>
            <a:off x="539496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BOX_module"/>
          <p:cNvSpPr/>
          <p:nvPr/>
        </p:nvSpPr>
        <p:spPr>
          <a:xfrm>
            <a:off x="555498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BOX_module"/>
          <p:cNvSpPr/>
          <p:nvPr/>
        </p:nvSpPr>
        <p:spPr>
          <a:xfrm>
            <a:off x="571500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XT_continue frozen denoisin"/>
          <p:cNvSpPr txBox="1"/>
          <p:nvPr/>
        </p:nvSpPr>
        <p:spPr>
          <a:xfrm>
            <a:off x="4700016" y="4828032"/>
            <a:ext cx="14173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657487"/>
                </a:solidFill>
                <a:latin typeface="Arial"/>
              </a:rPr>
              <a:t>continue frozen denoising</a:t>
            </a:r>
          </a:p>
        </p:txBody>
      </p:sp>
      <p:cxnSp>
        <p:nvCxnSpPr>
          <p:cNvPr id="247" name="FLOW_connector"/>
          <p:cNvCxnSpPr/>
          <p:nvPr/>
        </p:nvCxnSpPr>
        <p:spPr>
          <a:xfrm>
            <a:off x="5916168" y="4645152"/>
            <a:ext cx="320040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XT_..."/>
          <p:cNvSpPr txBox="1"/>
          <p:nvPr/>
        </p:nvSpPr>
        <p:spPr>
          <a:xfrm>
            <a:off x="6217920" y="455371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cxnSp>
        <p:nvCxnSpPr>
          <p:cNvPr id="249" name="FLOW_connector"/>
          <p:cNvCxnSpPr/>
          <p:nvPr/>
        </p:nvCxnSpPr>
        <p:spPr>
          <a:xfrm>
            <a:off x="6446520" y="4645152"/>
            <a:ext cx="301752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BOX_module"/>
          <p:cNvSpPr/>
          <p:nvPr/>
        </p:nvSpPr>
        <p:spPr>
          <a:xfrm>
            <a:off x="6748272" y="457200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BOX_module"/>
          <p:cNvSpPr/>
          <p:nvPr/>
        </p:nvSpPr>
        <p:spPr>
          <a:xfrm>
            <a:off x="6908292" y="457200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BOX_module"/>
          <p:cNvSpPr/>
          <p:nvPr/>
        </p:nvSpPr>
        <p:spPr>
          <a:xfrm>
            <a:off x="7068312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BOX_module"/>
          <p:cNvSpPr/>
          <p:nvPr/>
        </p:nvSpPr>
        <p:spPr>
          <a:xfrm>
            <a:off x="7228331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BOX_module"/>
          <p:cNvSpPr/>
          <p:nvPr/>
        </p:nvSpPr>
        <p:spPr>
          <a:xfrm>
            <a:off x="7388352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BOX_module"/>
          <p:cNvSpPr/>
          <p:nvPr/>
        </p:nvSpPr>
        <p:spPr>
          <a:xfrm>
            <a:off x="7548371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XT_final guided action"/>
          <p:cNvSpPr txBox="1"/>
          <p:nvPr/>
        </p:nvSpPr>
        <p:spPr>
          <a:xfrm>
            <a:off x="6720840" y="4828032"/>
            <a:ext cx="109728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B96425"/>
                </a:solidFill>
                <a:latin typeface="Arial"/>
              </a:rPr>
              <a:t>final guided action</a:t>
            </a:r>
          </a:p>
        </p:txBody>
      </p:sp>
      <p:cxnSp>
        <p:nvCxnSpPr>
          <p:cNvPr id="257" name="FLOW_connector"/>
          <p:cNvCxnSpPr/>
          <p:nvPr/>
        </p:nvCxnSpPr>
        <p:spPr>
          <a:xfrm>
            <a:off x="7799831" y="4645152"/>
            <a:ext cx="448057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8" name="IMG_chip_execution_clean_t06" descr="chip_execution_clean_t06.0s_f0144.png"/>
          <p:cNvPicPr>
            <a:picLocks noChangeAspect="1"/>
          </p:cNvPicPr>
          <p:nvPr/>
        </p:nvPicPr>
        <p:blipFill>
          <a:blip r:embed="rId11"/>
          <a:srcRect l="7083" r="7083"/>
          <a:stretch>
            <a:fillRect/>
          </a:stretch>
        </p:blipFill>
        <p:spPr>
          <a:xfrm>
            <a:off x="8257031" y="4361688"/>
            <a:ext cx="658368" cy="438912"/>
          </a:xfrm>
          <a:prstGeom prst="rect">
            <a:avLst/>
          </a:prstGeom>
        </p:spPr>
      </p:pic>
      <p:sp>
        <p:nvSpPr>
          <p:cNvPr id="259" name="FRAME_chip_execution_clean_t06"/>
          <p:cNvSpPr/>
          <p:nvPr/>
        </p:nvSpPr>
        <p:spPr>
          <a:xfrm>
            <a:off x="8257031" y="4361688"/>
            <a:ext cx="658368" cy="438912"/>
          </a:xfrm>
          <a:prstGeom prst="rect">
            <a:avLst/>
          </a:prstGeom>
          <a:noFill/>
          <a:ln w="698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FLOW_connector"/>
          <p:cNvCxnSpPr/>
          <p:nvPr/>
        </p:nvCxnSpPr>
        <p:spPr>
          <a:xfrm>
            <a:off x="8933688" y="4581144"/>
            <a:ext cx="182880" cy="0"/>
          </a:xfrm>
          <a:prstGeom prst="line">
            <a:avLst/>
          </a:prstGeom>
          <a:ln w="11430">
            <a:solidFill>
              <a:srgbClr val="347B4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1" name="IMG_chip_execution_clean_t10" descr="chip_execution_clean_t10.0s_f0240.png"/>
          <p:cNvPicPr>
            <a:picLocks noChangeAspect="1"/>
          </p:cNvPicPr>
          <p:nvPr/>
        </p:nvPicPr>
        <p:blipFill>
          <a:blip r:embed="rId12"/>
          <a:srcRect l="7083" r="7083"/>
          <a:stretch>
            <a:fillRect/>
          </a:stretch>
        </p:blipFill>
        <p:spPr>
          <a:xfrm>
            <a:off x="9125712" y="4361688"/>
            <a:ext cx="658368" cy="438912"/>
          </a:xfrm>
          <a:prstGeom prst="rect">
            <a:avLst/>
          </a:prstGeom>
        </p:spPr>
      </p:pic>
      <p:sp>
        <p:nvSpPr>
          <p:cNvPr id="262" name="FRAME_chip_execution_clean_t10"/>
          <p:cNvSpPr/>
          <p:nvPr/>
        </p:nvSpPr>
        <p:spPr>
          <a:xfrm>
            <a:off x="9125712" y="4361688"/>
            <a:ext cx="658368" cy="438912"/>
          </a:xfrm>
          <a:prstGeom prst="rect">
            <a:avLst/>
          </a:prstGeom>
          <a:noFill/>
          <a:ln w="698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XT_execute &amp; replan"/>
          <p:cNvSpPr txBox="1"/>
          <p:nvPr/>
        </p:nvSpPr>
        <p:spPr>
          <a:xfrm>
            <a:off x="8348472" y="4828032"/>
            <a:ext cx="1335024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347B45"/>
                </a:solidFill>
                <a:latin typeface="Arial"/>
              </a:rPr>
              <a:t>execute &amp; replan</a:t>
            </a:r>
          </a:p>
        </p:txBody>
      </p:sp>
      <p:sp>
        <p:nvSpPr>
          <p:cNvPr id="264" name="BOX_module"/>
          <p:cNvSpPr/>
          <p:nvPr/>
        </p:nvSpPr>
        <p:spPr>
          <a:xfrm>
            <a:off x="2121408" y="3447288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BOX_module"/>
          <p:cNvSpPr/>
          <p:nvPr/>
        </p:nvSpPr>
        <p:spPr>
          <a:xfrm>
            <a:off x="2244852" y="3447288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BOX_module"/>
          <p:cNvSpPr/>
          <p:nvPr/>
        </p:nvSpPr>
        <p:spPr>
          <a:xfrm>
            <a:off x="2368296" y="3447288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BOX_module"/>
          <p:cNvSpPr/>
          <p:nvPr/>
        </p:nvSpPr>
        <p:spPr>
          <a:xfrm>
            <a:off x="2487168" y="339242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BOX_module"/>
          <p:cNvSpPr/>
          <p:nvPr/>
        </p:nvSpPr>
        <p:spPr>
          <a:xfrm>
            <a:off x="2546604" y="339242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BOX_module"/>
          <p:cNvSpPr/>
          <p:nvPr/>
        </p:nvSpPr>
        <p:spPr>
          <a:xfrm>
            <a:off x="2606040" y="339242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BOX_module"/>
          <p:cNvSpPr/>
          <p:nvPr/>
        </p:nvSpPr>
        <p:spPr>
          <a:xfrm>
            <a:off x="2487168" y="345186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BOX_module"/>
          <p:cNvSpPr/>
          <p:nvPr/>
        </p:nvSpPr>
        <p:spPr>
          <a:xfrm>
            <a:off x="2546604" y="345186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BOX_module"/>
          <p:cNvSpPr/>
          <p:nvPr/>
        </p:nvSpPr>
        <p:spPr>
          <a:xfrm>
            <a:off x="2606040" y="345186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BOX_module"/>
          <p:cNvSpPr/>
          <p:nvPr/>
        </p:nvSpPr>
        <p:spPr>
          <a:xfrm>
            <a:off x="2487168" y="3511296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BOX_module"/>
          <p:cNvSpPr/>
          <p:nvPr/>
        </p:nvSpPr>
        <p:spPr>
          <a:xfrm>
            <a:off x="2546604" y="3511296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BOX_module"/>
          <p:cNvSpPr/>
          <p:nvPr/>
        </p:nvSpPr>
        <p:spPr>
          <a:xfrm>
            <a:off x="2606040" y="3511296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XT_Obs. context"/>
          <p:cNvSpPr txBox="1"/>
          <p:nvPr/>
        </p:nvSpPr>
        <p:spPr>
          <a:xfrm>
            <a:off x="1993392" y="3218688"/>
            <a:ext cx="77724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35689F"/>
                </a:solidFill>
                <a:latin typeface="Arial"/>
              </a:rPr>
              <a:t>Obs. context</a:t>
            </a:r>
          </a:p>
        </p:txBody>
      </p:sp>
      <p:sp>
        <p:nvSpPr>
          <p:cNvPr id="277" name="BOX_Denoiser"/>
          <p:cNvSpPr/>
          <p:nvPr/>
        </p:nvSpPr>
        <p:spPr>
          <a:xfrm>
            <a:off x="2999232" y="3383280"/>
            <a:ext cx="658368" cy="429768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Denoiser</a:t>
            </a:r>
          </a:p>
        </p:txBody>
      </p:sp>
      <p:cxnSp>
        <p:nvCxnSpPr>
          <p:cNvPr id="278" name="FLOW_connector"/>
          <p:cNvCxnSpPr/>
          <p:nvPr/>
        </p:nvCxnSpPr>
        <p:spPr>
          <a:xfrm flipV="1">
            <a:off x="3570274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FLOW_connector"/>
          <p:cNvCxnSpPr/>
          <p:nvPr/>
        </p:nvCxnSpPr>
        <p:spPr>
          <a:xfrm>
            <a:off x="3570274" y="3323386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FLOW_connector"/>
          <p:cNvCxnSpPr/>
          <p:nvPr/>
        </p:nvCxnSpPr>
        <p:spPr>
          <a:xfrm>
            <a:off x="3608679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BOX_module"/>
          <p:cNvSpPr/>
          <p:nvPr/>
        </p:nvSpPr>
        <p:spPr>
          <a:xfrm>
            <a:off x="3547872" y="3352190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FLOW_connector"/>
          <p:cNvCxnSpPr/>
          <p:nvPr/>
        </p:nvCxnSpPr>
        <p:spPr>
          <a:xfrm flipV="1">
            <a:off x="2414016" y="4041648"/>
            <a:ext cx="0" cy="45720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FLOW_connector"/>
          <p:cNvCxnSpPr/>
          <p:nvPr/>
        </p:nvCxnSpPr>
        <p:spPr>
          <a:xfrm>
            <a:off x="2414016" y="4041648"/>
            <a:ext cx="786384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FLOW_connector"/>
          <p:cNvCxnSpPr/>
          <p:nvPr/>
        </p:nvCxnSpPr>
        <p:spPr>
          <a:xfrm flipV="1">
            <a:off x="3200400" y="3813048"/>
            <a:ext cx="0" cy="22860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FLOW_connector"/>
          <p:cNvCxnSpPr/>
          <p:nvPr/>
        </p:nvCxnSpPr>
        <p:spPr>
          <a:xfrm>
            <a:off x="2743200" y="3547872"/>
            <a:ext cx="256032" cy="54864"/>
          </a:xfrm>
          <a:prstGeom prst="line">
            <a:avLst/>
          </a:prstGeom>
          <a:ln w="1143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BOX_module"/>
          <p:cNvSpPr/>
          <p:nvPr/>
        </p:nvSpPr>
        <p:spPr>
          <a:xfrm>
            <a:off x="3822191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BOX_module"/>
          <p:cNvSpPr/>
          <p:nvPr/>
        </p:nvSpPr>
        <p:spPr>
          <a:xfrm>
            <a:off x="3954779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BOX_module"/>
          <p:cNvSpPr/>
          <p:nvPr/>
        </p:nvSpPr>
        <p:spPr>
          <a:xfrm>
            <a:off x="4087368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BOX_module"/>
          <p:cNvSpPr/>
          <p:nvPr/>
        </p:nvSpPr>
        <p:spPr>
          <a:xfrm>
            <a:off x="4219955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XT_Clean action estimate"/>
          <p:cNvSpPr txBox="1"/>
          <p:nvPr/>
        </p:nvSpPr>
        <p:spPr>
          <a:xfrm>
            <a:off x="3703320" y="3282696"/>
            <a:ext cx="868680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B96425"/>
                </a:solidFill>
                <a:latin typeface="Arial"/>
              </a:rPr>
              <a:t>Clean action estimate</a:t>
            </a:r>
          </a:p>
        </p:txBody>
      </p:sp>
      <p:cxnSp>
        <p:nvCxnSpPr>
          <p:cNvPr id="291" name="FLOW_connector"/>
          <p:cNvCxnSpPr/>
          <p:nvPr/>
        </p:nvCxnSpPr>
        <p:spPr>
          <a:xfrm>
            <a:off x="3657600" y="3602736"/>
            <a:ext cx="146304" cy="0"/>
          </a:xfrm>
          <a:prstGeom prst="line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BOX_Foresight"/>
          <p:cNvSpPr/>
          <p:nvPr/>
        </p:nvSpPr>
        <p:spPr>
          <a:xfrm>
            <a:off x="4453128" y="3383280"/>
            <a:ext cx="658368" cy="429768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Foresight</a:t>
            </a:r>
          </a:p>
        </p:txBody>
      </p:sp>
      <p:cxnSp>
        <p:nvCxnSpPr>
          <p:cNvPr id="293" name="FLOW_connector"/>
          <p:cNvCxnSpPr/>
          <p:nvPr/>
        </p:nvCxnSpPr>
        <p:spPr>
          <a:xfrm flipV="1">
            <a:off x="5024170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FLOW_connector"/>
          <p:cNvCxnSpPr/>
          <p:nvPr/>
        </p:nvCxnSpPr>
        <p:spPr>
          <a:xfrm>
            <a:off x="5024170" y="3323386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FLOW_connector"/>
          <p:cNvCxnSpPr/>
          <p:nvPr/>
        </p:nvCxnSpPr>
        <p:spPr>
          <a:xfrm>
            <a:off x="5062575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BOX_module"/>
          <p:cNvSpPr/>
          <p:nvPr/>
        </p:nvSpPr>
        <p:spPr>
          <a:xfrm>
            <a:off x="5001768" y="3352190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FLOW_connector"/>
          <p:cNvCxnSpPr/>
          <p:nvPr/>
        </p:nvCxnSpPr>
        <p:spPr>
          <a:xfrm>
            <a:off x="4352544" y="3602736"/>
            <a:ext cx="100584" cy="0"/>
          </a:xfrm>
          <a:prstGeom prst="line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FLOW_connector"/>
          <p:cNvCxnSpPr/>
          <p:nvPr/>
        </p:nvCxnSpPr>
        <p:spPr>
          <a:xfrm>
            <a:off x="2724912" y="3547872"/>
            <a:ext cx="109728" cy="0"/>
          </a:xfrm>
          <a:prstGeom prst="line">
            <a:avLst/>
          </a:prstGeom>
          <a:ln w="1016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FLOW_connector"/>
          <p:cNvCxnSpPr/>
          <p:nvPr/>
        </p:nvCxnSpPr>
        <p:spPr>
          <a:xfrm flipV="1">
            <a:off x="2834640" y="3182112"/>
            <a:ext cx="0" cy="365760"/>
          </a:xfrm>
          <a:prstGeom prst="line">
            <a:avLst/>
          </a:prstGeom>
          <a:ln w="1016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FLOW_connector"/>
          <p:cNvCxnSpPr/>
          <p:nvPr/>
        </p:nvCxnSpPr>
        <p:spPr>
          <a:xfrm>
            <a:off x="2834640" y="3182112"/>
            <a:ext cx="1947672" cy="0"/>
          </a:xfrm>
          <a:prstGeom prst="line">
            <a:avLst/>
          </a:prstGeom>
          <a:ln w="1016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FLOW_connector"/>
          <p:cNvCxnSpPr/>
          <p:nvPr/>
        </p:nvCxnSpPr>
        <p:spPr>
          <a:xfrm>
            <a:off x="4782312" y="3182112"/>
            <a:ext cx="0" cy="201168"/>
          </a:xfrm>
          <a:prstGeom prst="line">
            <a:avLst/>
          </a:prstGeom>
          <a:ln w="1016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2" name="IMG_foresight_pred_h1" descr="foresight_pred_h1.png"/>
          <p:cNvPicPr>
            <a:picLocks noChangeAspect="1"/>
          </p:cNvPicPr>
          <p:nvPr/>
        </p:nvPicPr>
        <p:blipFill>
          <a:blip r:embed="rId8"/>
          <a:srcRect l="1103" r="1103"/>
          <a:stretch>
            <a:fillRect/>
          </a:stretch>
        </p:blipFill>
        <p:spPr>
          <a:xfrm>
            <a:off x="5285232" y="3392424"/>
            <a:ext cx="365760" cy="365760"/>
          </a:xfrm>
          <a:prstGeom prst="rect">
            <a:avLst/>
          </a:prstGeom>
        </p:spPr>
      </p:pic>
      <p:sp>
        <p:nvSpPr>
          <p:cNvPr id="303" name="FRAME_foresight_pred_h1"/>
          <p:cNvSpPr/>
          <p:nvPr/>
        </p:nvSpPr>
        <p:spPr>
          <a:xfrm>
            <a:off x="5285232" y="3392424"/>
            <a:ext cx="365760" cy="365760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4" name="IMG_foresight_pred_h8" descr="foresight_pred_h8.png"/>
          <p:cNvPicPr>
            <a:picLocks noChangeAspect="1"/>
          </p:cNvPicPr>
          <p:nvPr/>
        </p:nvPicPr>
        <p:blipFill>
          <a:blip r:embed="rId9"/>
          <a:srcRect l="1103" r="1103"/>
          <a:stretch>
            <a:fillRect/>
          </a:stretch>
        </p:blipFill>
        <p:spPr>
          <a:xfrm>
            <a:off x="5705856" y="3392424"/>
            <a:ext cx="365760" cy="365760"/>
          </a:xfrm>
          <a:prstGeom prst="rect">
            <a:avLst/>
          </a:prstGeom>
        </p:spPr>
      </p:pic>
      <p:sp>
        <p:nvSpPr>
          <p:cNvPr id="305" name="FRAME_foresight_pred_h8"/>
          <p:cNvSpPr/>
          <p:nvPr/>
        </p:nvSpPr>
        <p:spPr>
          <a:xfrm>
            <a:off x="5705856" y="3392424"/>
            <a:ext cx="365760" cy="365760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6" name="IMG_foresight_pred_h16" descr="foresight_pred_h16.png"/>
          <p:cNvPicPr>
            <a:picLocks noChangeAspect="1"/>
          </p:cNvPicPr>
          <p:nvPr/>
        </p:nvPicPr>
        <p:blipFill>
          <a:blip r:embed="rId10"/>
          <a:srcRect l="1460" r="1460"/>
          <a:stretch>
            <a:fillRect/>
          </a:stretch>
        </p:blipFill>
        <p:spPr>
          <a:xfrm>
            <a:off x="6126480" y="3392424"/>
            <a:ext cx="365760" cy="365760"/>
          </a:xfrm>
          <a:prstGeom prst="rect">
            <a:avLst/>
          </a:prstGeom>
        </p:spPr>
      </p:pic>
      <p:sp>
        <p:nvSpPr>
          <p:cNvPr id="307" name="FRAME_foresight_pred_h16"/>
          <p:cNvSpPr/>
          <p:nvPr/>
        </p:nvSpPr>
        <p:spPr>
          <a:xfrm>
            <a:off x="6126480" y="3392424"/>
            <a:ext cx="365760" cy="365760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XT_Predicted tactile future"/>
          <p:cNvSpPr txBox="1"/>
          <p:nvPr/>
        </p:nvSpPr>
        <p:spPr>
          <a:xfrm>
            <a:off x="5230368" y="3182112"/>
            <a:ext cx="128016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197B82"/>
                </a:solidFill>
                <a:latin typeface="Arial"/>
              </a:rPr>
              <a:t>Predicted tactile future</a:t>
            </a:r>
          </a:p>
        </p:txBody>
      </p:sp>
      <p:cxnSp>
        <p:nvCxnSpPr>
          <p:cNvPr id="309" name="FLOW_connector"/>
          <p:cNvCxnSpPr/>
          <p:nvPr/>
        </p:nvCxnSpPr>
        <p:spPr>
          <a:xfrm>
            <a:off x="5111496" y="3602736"/>
            <a:ext cx="155448" cy="0"/>
          </a:xfrm>
          <a:prstGeom prst="line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BOX_module"/>
          <p:cNvSpPr/>
          <p:nvPr/>
        </p:nvSpPr>
        <p:spPr>
          <a:xfrm>
            <a:off x="6620256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BOX_module"/>
          <p:cNvSpPr/>
          <p:nvPr/>
        </p:nvSpPr>
        <p:spPr>
          <a:xfrm>
            <a:off x="6729984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BOX_module"/>
          <p:cNvSpPr/>
          <p:nvPr/>
        </p:nvSpPr>
        <p:spPr>
          <a:xfrm>
            <a:off x="6839712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BOX_module"/>
          <p:cNvSpPr/>
          <p:nvPr/>
        </p:nvSpPr>
        <p:spPr>
          <a:xfrm>
            <a:off x="6949440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BOX_module"/>
          <p:cNvSpPr/>
          <p:nvPr/>
        </p:nvSpPr>
        <p:spPr>
          <a:xfrm>
            <a:off x="6620256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BOX_module"/>
          <p:cNvSpPr/>
          <p:nvPr/>
        </p:nvSpPr>
        <p:spPr>
          <a:xfrm>
            <a:off x="6729984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BOX_module"/>
          <p:cNvSpPr/>
          <p:nvPr/>
        </p:nvSpPr>
        <p:spPr>
          <a:xfrm>
            <a:off x="6839712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BOX_module"/>
          <p:cNvSpPr/>
          <p:nvPr/>
        </p:nvSpPr>
        <p:spPr>
          <a:xfrm>
            <a:off x="6949440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FLOW_connector"/>
          <p:cNvCxnSpPr/>
          <p:nvPr/>
        </p:nvCxnSpPr>
        <p:spPr>
          <a:xfrm>
            <a:off x="6473952" y="3602736"/>
            <a:ext cx="128016" cy="100584"/>
          </a:xfrm>
          <a:prstGeom prst="line">
            <a:avLst/>
          </a:prstGeom>
          <a:ln w="1016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FLOW_connector"/>
          <p:cNvCxnSpPr/>
          <p:nvPr/>
        </p:nvCxnSpPr>
        <p:spPr>
          <a:xfrm>
            <a:off x="4087368" y="3712463"/>
            <a:ext cx="0" cy="201169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FLOW_connector"/>
          <p:cNvCxnSpPr/>
          <p:nvPr/>
        </p:nvCxnSpPr>
        <p:spPr>
          <a:xfrm>
            <a:off x="4087368" y="3913632"/>
            <a:ext cx="2423160" cy="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FLOW_connector"/>
          <p:cNvCxnSpPr/>
          <p:nvPr/>
        </p:nvCxnSpPr>
        <p:spPr>
          <a:xfrm flipV="1">
            <a:off x="6510528" y="3456432"/>
            <a:ext cx="0" cy="45720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FLOW_connector"/>
          <p:cNvCxnSpPr/>
          <p:nvPr/>
        </p:nvCxnSpPr>
        <p:spPr>
          <a:xfrm>
            <a:off x="6510528" y="3456432"/>
            <a:ext cx="91440" cy="0"/>
          </a:xfrm>
          <a:prstGeom prst="line">
            <a:avLst/>
          </a:prstGeom>
          <a:ln w="1016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BOX_Scorer"/>
          <p:cNvSpPr/>
          <p:nvPr/>
        </p:nvSpPr>
        <p:spPr>
          <a:xfrm>
            <a:off x="7159752" y="3383280"/>
            <a:ext cx="640080" cy="429768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Scorer</a:t>
            </a:r>
          </a:p>
        </p:txBody>
      </p:sp>
      <p:cxnSp>
        <p:nvCxnSpPr>
          <p:cNvPr id="324" name="FLOW_connector"/>
          <p:cNvCxnSpPr/>
          <p:nvPr/>
        </p:nvCxnSpPr>
        <p:spPr>
          <a:xfrm flipV="1">
            <a:off x="7712506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FLOW_connector"/>
          <p:cNvCxnSpPr/>
          <p:nvPr/>
        </p:nvCxnSpPr>
        <p:spPr>
          <a:xfrm>
            <a:off x="7712506" y="3323386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FLOW_connector"/>
          <p:cNvCxnSpPr/>
          <p:nvPr/>
        </p:nvCxnSpPr>
        <p:spPr>
          <a:xfrm>
            <a:off x="7750911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BOX_module"/>
          <p:cNvSpPr/>
          <p:nvPr/>
        </p:nvSpPr>
        <p:spPr>
          <a:xfrm>
            <a:off x="7690104" y="3352190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8" name="FLOW_connector"/>
          <p:cNvCxnSpPr/>
          <p:nvPr/>
        </p:nvCxnSpPr>
        <p:spPr>
          <a:xfrm>
            <a:off x="7059168" y="3602736"/>
            <a:ext cx="100584" cy="0"/>
          </a:xfrm>
          <a:prstGeom prst="line">
            <a:avLst/>
          </a:prstGeom>
          <a:ln w="12700">
            <a:solidFill>
              <a:srgbClr val="C6A24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BOX_module"/>
          <p:cNvSpPr/>
          <p:nvPr/>
        </p:nvSpPr>
        <p:spPr>
          <a:xfrm>
            <a:off x="7973568" y="3520440"/>
            <a:ext cx="164592" cy="164592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XT_low quality"/>
          <p:cNvSpPr txBox="1"/>
          <p:nvPr/>
        </p:nvSpPr>
        <p:spPr>
          <a:xfrm>
            <a:off x="8174736" y="3502152"/>
            <a:ext cx="585216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20" b="1">
                <a:solidFill>
                  <a:srgbClr val="D85D5D"/>
                </a:solidFill>
                <a:latin typeface="Arial"/>
              </a:rPr>
              <a:t>low quality</a:t>
            </a:r>
          </a:p>
        </p:txBody>
      </p:sp>
      <p:cxnSp>
        <p:nvCxnSpPr>
          <p:cNvPr id="331" name="FLOW_connector"/>
          <p:cNvCxnSpPr/>
          <p:nvPr/>
        </p:nvCxnSpPr>
        <p:spPr>
          <a:xfrm>
            <a:off x="7799831" y="3602736"/>
            <a:ext cx="155448" cy="0"/>
          </a:xfrm>
          <a:prstGeom prst="line">
            <a:avLst/>
          </a:prstGeom>
          <a:ln w="12700">
            <a:solidFill>
              <a:srgbClr val="D85D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FLOW_connector"/>
          <p:cNvCxnSpPr/>
          <p:nvPr/>
        </p:nvCxnSpPr>
        <p:spPr>
          <a:xfrm>
            <a:off x="8065008" y="3694176"/>
            <a:ext cx="0" cy="466344"/>
          </a:xfrm>
          <a:prstGeom prst="line">
            <a:avLst/>
          </a:prstGeom>
          <a:ln w="15875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FLOW_connector"/>
          <p:cNvCxnSpPr/>
          <p:nvPr/>
        </p:nvCxnSpPr>
        <p:spPr>
          <a:xfrm flipH="1">
            <a:off x="2414016" y="4160520"/>
            <a:ext cx="5650992" cy="0"/>
          </a:xfrm>
          <a:prstGeom prst="line">
            <a:avLst/>
          </a:prstGeom>
          <a:ln w="15875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FLOW_connector"/>
          <p:cNvCxnSpPr/>
          <p:nvPr/>
        </p:nvCxnSpPr>
        <p:spPr>
          <a:xfrm>
            <a:off x="2414016" y="4160520"/>
            <a:ext cx="0" cy="329184"/>
          </a:xfrm>
          <a:prstGeom prst="line">
            <a:avLst/>
          </a:prstGeom>
          <a:ln w="15875">
            <a:solidFill>
              <a:srgbClr val="E78A3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TXT_quality gradient"/>
          <p:cNvSpPr txBox="1"/>
          <p:nvPr/>
        </p:nvSpPr>
        <p:spPr>
          <a:xfrm>
            <a:off x="6976872" y="4187952"/>
            <a:ext cx="82296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B96425"/>
                </a:solidFill>
                <a:latin typeface="Arial"/>
              </a:rPr>
              <a:t>quality gradient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